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5796a3390248fb" /><Relationship Type="http://schemas.openxmlformats.org/officeDocument/2006/relationships/extended-properties" Target="/docProps/app.xml" Id="R8d6558bff5c64e0d" /><Relationship Type="http://schemas.openxmlformats.org/officeDocument/2006/relationships/officeDocument" Target="/ppt/presentation.xml" Id="R2d38d39b6d8641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44e47c793e4be3"/>
  </p:sldMasterIdLst>
  <p:notesMasterIdLst>
    <p:notesMasterId xmlns:r="http://schemas.openxmlformats.org/officeDocument/2006/relationships" r:id="R9eb3b3acda004dc3"/>
  </p:notesMasterIdLst>
  <p:sldIdLst>
    <p:sldId xmlns:r="http://schemas.openxmlformats.org/officeDocument/2006/relationships" id="256" r:id="Rf27191f56d904d2f"/>
    <p:sldId xmlns:r="http://schemas.openxmlformats.org/officeDocument/2006/relationships" id="257" r:id="R010fae434127449c"/>
    <p:sldId xmlns:r="http://schemas.openxmlformats.org/officeDocument/2006/relationships" id="258" r:id="Re84e13dc752f43a2"/>
    <p:sldId xmlns:r="http://schemas.openxmlformats.org/officeDocument/2006/relationships" id="259" r:id="R151a8fe3e9e14521"/>
    <p:sldId xmlns:r="http://schemas.openxmlformats.org/officeDocument/2006/relationships" id="260" r:id="R949a56d69eca4354"/>
    <p:sldId xmlns:r="http://schemas.openxmlformats.org/officeDocument/2006/relationships" id="261" r:id="R55b12ca138bc4ebf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eb9b091b1140ea" /><Relationship Type="http://schemas.openxmlformats.org/officeDocument/2006/relationships/slideMaster" Target="/ppt/slideMasters/slideMaster1.xml" Id="Rad44e47c793e4be3" /><Relationship Type="http://schemas.openxmlformats.org/officeDocument/2006/relationships/notesMaster" Target="/ppt/notesMasters/notesMaster1.xml" Id="R9eb3b3acda004dc3" /><Relationship Type="http://schemas.openxmlformats.org/officeDocument/2006/relationships/presProps" Target="/ppt/presProps.xml" Id="R82c53fb587794f59" /><Relationship Type="http://schemas.openxmlformats.org/officeDocument/2006/relationships/viewProps" Target="/ppt/viewProps.xml" Id="Re8038ad0df344f2d" /><Relationship Type="http://schemas.openxmlformats.org/officeDocument/2006/relationships/tableStyles" Target="/ppt/tableStyles.xml" Id="Rba7ade4034e5437a" /><Relationship Type="http://schemas.openxmlformats.org/officeDocument/2006/relationships/slide" Target="/ppt/slides/slide1.xml" Id="Rf27191f56d904d2f" /><Relationship Type="http://schemas.openxmlformats.org/officeDocument/2006/relationships/slide" Target="/ppt/slides/slide2.xml" Id="R010fae434127449c" /><Relationship Type="http://schemas.openxmlformats.org/officeDocument/2006/relationships/slide" Target="/ppt/slides/slide3.xml" Id="Re84e13dc752f43a2" /><Relationship Type="http://schemas.openxmlformats.org/officeDocument/2006/relationships/slide" Target="/ppt/slides/slide4.xml" Id="R151a8fe3e9e14521" /><Relationship Type="http://schemas.openxmlformats.org/officeDocument/2006/relationships/slide" Target="/ppt/slides/slide5.xml" Id="R949a56d69eca4354" /><Relationship Type="http://schemas.openxmlformats.org/officeDocument/2006/relationships/slide" Target="/ppt/slides/slide6.xml" Id="R55b12ca138bc4e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0caa1bc9b641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f3690e1cbe42f2" /><Relationship Type="http://schemas.openxmlformats.org/officeDocument/2006/relationships/notesMaster" Target="/ppt/notesMasters/notesMaster1.xml" Id="Rd5c2e86492df43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697e6bdaef443c" /><Relationship Type="http://schemas.openxmlformats.org/officeDocument/2006/relationships/notesMaster" Target="/ppt/notesMasters/notesMaster1.xml" Id="Reb9bac4537664c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38d6f970b144e5" /><Relationship Type="http://schemas.openxmlformats.org/officeDocument/2006/relationships/notesMaster" Target="/ppt/notesMasters/notesMaster1.xml" Id="Rab1a73a6dc1c4b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94d542722f450a" /><Relationship Type="http://schemas.openxmlformats.org/officeDocument/2006/relationships/notesMaster" Target="/ppt/notesMasters/notesMaster1.xml" Id="R56e7387e7f3f47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d0b58378944f30" /><Relationship Type="http://schemas.openxmlformats.org/officeDocument/2006/relationships/notesMaster" Target="/ppt/notesMasters/notesMaster1.xml" Id="Rea6fa872282d46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7ca188404942b1" /><Relationship Type="http://schemas.openxmlformats.org/officeDocument/2006/relationships/notesMaster" Target="/ppt/notesMasters/notesMaster1.xml" Id="Re7c13cbea45b4d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708ef3877c46f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4b3726185a4942" /><Relationship Type="http://schemas.openxmlformats.org/officeDocument/2006/relationships/slideLayout" Target="/ppt/slideLayouts/slideLayout1.xml" Id="Re973e0d65ba7421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73e0d65ba74218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0103b4e7f4f46" /><Relationship Type="http://schemas.openxmlformats.org/officeDocument/2006/relationships/notesSlide" Target="/ppt/notesSlides/notesSlide1.xml" Id="Rc5d6e6e51b954a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930b49e434f12" /><Relationship Type="http://schemas.openxmlformats.org/officeDocument/2006/relationships/notesSlide" Target="/ppt/notesSlides/notesSlide2.xml" Id="Rcd66c3a740e143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562ca2d284352" /><Relationship Type="http://schemas.openxmlformats.org/officeDocument/2006/relationships/notesSlide" Target="/ppt/notesSlides/notesSlide3.xml" Id="Rd621e1983fcf4e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a571370284ac3" /><Relationship Type="http://schemas.openxmlformats.org/officeDocument/2006/relationships/notesSlide" Target="/ppt/notesSlides/notesSlide4.xml" Id="Rda44c9e5913845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cd34cbbbd4431" /><Relationship Type="http://schemas.openxmlformats.org/officeDocument/2006/relationships/notesSlide" Target="/ppt/notesSlides/notesSlide5.xml" Id="R0c51098830c745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e326bedf44e7d" /><Relationship Type="http://schemas.openxmlformats.org/officeDocument/2006/relationships/notesSlide" Target="/ppt/notesSlides/notesSlide6.xml" Id="R69940662a18843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1DAE63F-6F8C-4C0B-A55C-0733FA85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500000">
            <a:off x="6667500" y="0"/>
            <a:ext cx="2476500" cy="247650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008A8A">
              <a:alpha val="90000"/>
            </a:srgbClr>
          </a:solidFill>
          <a:ln xmlns:a="http://schemas.openxmlformats.org/drawingml/2006/main" w="12700">
            <a:solidFill>
              <a:srgbClr val="008A8A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0634904-0678-491A-A1A6-ADE78F2C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291840"/>
            <a:ext cx="1280160" cy="1280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12700">
            <a:solidFill>
              <a:srgbClr val="F5B942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CD267FC-3139-4806-A616-90CC22E7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1097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5B942"/>
                </a:solidFill>
              </a:rPr>
              <a:t>UTM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2C9C0D6-6CF7-4D53-9EBB-E67703C1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43000"/>
            <a:ext cx="594360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FFFFF"/>
                </a:solidFill>
              </a:rPr>
              <a:t>Memanfaatkan</a:t>
            </a:r>
          </a:p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FFFFF"/>
                </a:solidFill>
              </a:rPr>
              <a:t>Agentic AI untuk</a:t>
            </a:r>
          </a:p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FFFFF"/>
                </a:solidFill>
              </a:rPr>
              <a:t>Meningkatkan Produktiviti Harian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B9202A7-53DE-450D-99D9-8758E76A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83280"/>
            <a:ext cx="5394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5B942"/>
                </a:solidFill>
              </a:rPr>
              <a:t>PM Dr. Mohd Murtadha Mohamad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491A628-9E2A-48D6-9D3C-0F30C86B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22192"/>
            <a:ext cx="5669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DDE8E8"/>
                </a:solidFill>
              </a:rPr>
              <a:t>21 Julai 2026 (Selasa)  ·  </a:t>
            </a:r>
            <a:r>
              <a:rPr sz="1200">
                <a:solidFill>
                  <a:srgbClr val="DDE8E8"/>
                </a:solidFill>
              </a:rPr>
              <a:t>10.00 pagi–12.00 tengah hari</a:t>
            </a:r>
          </a:p>
        </p:txBody>
      </p:sp>
    </p:spTree>
    <p:extLst>
      <p:ext uri="{BB962C8B-B14F-4D97-AF65-F5344CB8AC3E}">
        <p14:creationId xmlns:p14="http://schemas.microsoft.com/office/powerpoint/2010/main" val="13734012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D836C83-FAB7-4502-AF92-8316FE54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1480"/>
            <a:ext cx="4114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8A8A"/>
                </a:solidFill>
                <a:latin typeface="Arial"/>
                <a:ea typeface="Arial"/>
                <a:cs typeface="Arial"/>
              </a:rPr>
              <a:t>CORE DISTINCTION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AB56528-4C7F-4B2C-B858-C004A808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22960"/>
            <a:ext cx="7955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AI assistant vs agentic AI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5FACC4E-ECF8-40F9-AA41-A1E01807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36576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0"/>
          </a:solidFill>
          <a:ln xmlns:a="http://schemas.openxmlformats.org/drawingml/2006/main" w="12700">
            <a:solidFill>
              <a:srgbClr val="008A8A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F90B6E2-0881-4800-93E8-AEC1D6C5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5960"/>
            <a:ext cx="3108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8A8A"/>
                </a:solidFill>
              </a:rPr>
              <a:t>AI ASSISTANT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91F8D5B-92F3-41BA-BBCF-7E4771B9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06040"/>
            <a:ext cx="3017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2304A"/>
                </a:solidFill>
              </a:rPr>
              <a:t>Responds using reusable instructions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4B5B0B8-ED5B-4D9F-AF3C-DAD8FA6D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04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7212B"/>
                </a:solidFill>
              </a:rPr>
              <a:t>You direct each interaction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D91F97D-0542-497C-85FF-BC03F055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645920"/>
            <a:ext cx="36576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A"/>
          </a:solidFill>
          <a:ln xmlns:a="http://schemas.openxmlformats.org/drawingml/2006/main" w="12700">
            <a:solidFill>
              <a:srgbClr val="12304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E70FE8-CA90-4C2B-B9AC-C762961C9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1965960"/>
            <a:ext cx="3108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5B942"/>
                </a:solidFill>
              </a:rPr>
              <a:t>AGENTIC WORKFLOW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E69662D-34A7-4F83-AC9E-67FB54C6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606040"/>
            <a:ext cx="3017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FFFFFF"/>
                </a:solidFill>
              </a:rPr>
              <a:t>Observes, decides, acts, and checks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FCAC6CD-F274-456E-9B98-ABFC52C8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5204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DDE8E8"/>
                </a:solidFill>
              </a:rPr>
              <a:t>Controls define when to stop or escalate</a:t>
            </a:r>
          </a:p>
        </p:txBody>
      </p:sp>
    </p:spTree>
    <p:extLst>
      <p:ext uri="{BB962C8B-B14F-4D97-AF65-F5344CB8AC3E}">
        <p14:creationId xmlns:p14="http://schemas.microsoft.com/office/powerpoint/2010/main" val="14896231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ED20DCE-AD25-44BE-81B9-6AC07EA6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1480"/>
            <a:ext cx="4114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8A8A"/>
                </a:solidFill>
                <a:latin typeface="Arial"/>
                <a:ea typeface="Arial"/>
                <a:cs typeface="Arial"/>
              </a:rPr>
              <a:t>WORKPLACE EXAMPLES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B5E3D79-ED8F-4DFE-8E7E-F3604B01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22960"/>
            <a:ext cx="7955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Where could this help at work?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93EFDB3-EBDD-4A9C-88EA-DA452616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91640"/>
            <a:ext cx="37490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0"/>
          </a:solidFill>
          <a:ln xmlns:a="http://schemas.openxmlformats.org/drawingml/2006/main" w="12700">
            <a:solidFill>
              <a:srgbClr val="C8DDDA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7FA2713-0982-4B9B-BD62-AD36981D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187452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8A8A"/>
                </a:solidFill>
              </a:rPr>
              <a:t>TEACHING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29F61E8-676C-4C7F-A89A-F792A9CF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32004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B"/>
                </a:solidFill>
              </a:rPr>
              <a:t>Turn learning outcomes into a draft activity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7D3EC0D-0E51-459C-A564-02F05451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691640"/>
            <a:ext cx="37490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0"/>
          </a:solidFill>
          <a:ln xmlns:a="http://schemas.openxmlformats.org/drawingml/2006/main" w="12700">
            <a:solidFill>
              <a:srgbClr val="C8DDD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4BA98EB-BED7-429A-9AD6-2C405D3B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187452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8A8A"/>
                </a:solidFill>
              </a:rPr>
              <a:t>RESEARCH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FEA3D96-6C7A-4AE5-8C6D-5F657321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2221992"/>
            <a:ext cx="32004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B"/>
                </a:solidFill>
              </a:rPr>
              <a:t>Screen and structure approved literature notes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C08E91B6-31D2-4928-B43E-E3A99045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0"/>
            <a:ext cx="37490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0"/>
          </a:solidFill>
          <a:ln xmlns:a="http://schemas.openxmlformats.org/drawingml/2006/main" w="12700">
            <a:solidFill>
              <a:srgbClr val="C8DDD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F74B79-BBC4-41EF-BA52-2C5F6E8A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38328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8A8A"/>
                </a:solidFill>
              </a:rPr>
              <a:t>ADMIN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CA34851-139F-4783-AB04-955741A7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730752"/>
            <a:ext cx="32004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7212B"/>
                </a:solidFill>
              </a:rPr>
              <a:t>Draft recurring replies from approved guidance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D63A544-5EC5-4F9A-9AFD-9F13D779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374904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A"/>
          </a:solidFill>
          <a:ln xmlns:a="http://schemas.openxmlformats.org/drawingml/2006/main" w="12700">
            <a:solidFill>
              <a:srgbClr val="12304A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D24E99E-4D98-4D49-B9BC-7A932C1E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338328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5B942"/>
                </a:solidFill>
              </a:rPr>
              <a:t>STUDENT SUPPORT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960AD56-BD49-4F22-959D-5B1E626E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3730752"/>
            <a:ext cx="32004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Triage a request and escalate sensitive cases</a:t>
            </a:r>
          </a:p>
        </p:txBody>
      </p:sp>
    </p:spTree>
    <p:extLst>
      <p:ext uri="{BB962C8B-B14F-4D97-AF65-F5344CB8AC3E}">
        <p14:creationId xmlns:p14="http://schemas.microsoft.com/office/powerpoint/2010/main" val="2608409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59B6A51-324B-420A-9DCF-B40EBC28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1480"/>
            <a:ext cx="4114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8A8A"/>
                </a:solidFill>
                <a:latin typeface="Arial"/>
                <a:ea typeface="Arial"/>
                <a:cs typeface="Arial"/>
              </a:rPr>
              <a:t>LIVE DEMONSTRATION + EXERCISE 1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2DD9DF8-EC3E-490E-B754-4485C207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22960"/>
            <a:ext cx="7955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From vague request to workflow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34E6EED-7D6F-4361-BEE1-5779C700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23317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DDD9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CF2D8A7-A855-4CBF-8E00-A4094251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64792"/>
            <a:ext cx="365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8A8A"/>
                </a:solidFill>
              </a:rPr>
              <a:t>01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57EABBB-88F8-4DB9-832F-34615319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39112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2304A"/>
                </a:solidFill>
              </a:rPr>
              <a:t>User + task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183914F-EDAE-4574-BFA6-F5A5ED91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600200"/>
            <a:ext cx="23317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DDD9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C046145-86D7-4A18-85AB-9138811A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64792"/>
            <a:ext cx="365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8A8A"/>
                </a:solidFill>
              </a:rPr>
              <a:t>02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0AED7D7-D782-4E3D-B2FB-0643E1FF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39112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2304A"/>
                </a:solidFill>
              </a:rPr>
              <a:t>Goal + non-goals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81F3F0F-F60B-4A11-9FC7-EF5C5C8F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00200"/>
            <a:ext cx="23317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DDD9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6FCDDC-48AC-4DA5-AE31-B9C79D10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764792"/>
            <a:ext cx="365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8A8A"/>
                </a:solidFill>
              </a:rPr>
              <a:t>03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EC62ECB-2ACE-4BB4-8F3F-83231520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039112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2304A"/>
                </a:solidFill>
              </a:rPr>
              <a:t>Persistent instructions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45BB04C-68A2-463A-9B2F-FCD8E656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0"/>
            <a:ext cx="23317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DDD9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511E693-E484-4E1E-A877-D43C88FB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90672"/>
            <a:ext cx="365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8A8A"/>
                </a:solidFill>
              </a:rPr>
              <a:t>04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FE3C105-D048-4939-AC85-383C079E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64992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2304A"/>
                </a:solidFill>
              </a:rPr>
              <a:t>Output + measures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F2ED937-2F44-4D4A-8EE2-7F1667BA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26080"/>
            <a:ext cx="23317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5B942"/>
          </a:solidFill>
          <a:ln xmlns:a="http://schemas.openxmlformats.org/drawingml/2006/main" w="12700">
            <a:solidFill>
              <a:srgbClr val="F5B942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CC2DB28-6AC8-49E4-8B77-682D8607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90672"/>
            <a:ext cx="365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8A8A"/>
                </a:solidFill>
              </a:rPr>
              <a:t>05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93102DE-C5DB-4EE7-AB25-8BEBA5C4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4992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2304A"/>
                </a:solidFill>
              </a:rPr>
              <a:t>Test cases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76AC438-75B8-4061-8C06-E1204C35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26080"/>
            <a:ext cx="23317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DDD9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CA29E84-B6EE-49DA-A3CA-2EB0F01E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090672"/>
            <a:ext cx="365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8A8A"/>
                </a:solidFill>
              </a:rPr>
              <a:t>06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D13B0D8-9B69-4355-9CBD-B6CB7235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64992"/>
            <a:ext cx="1920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2304A"/>
                </a:solidFill>
              </a:rPr>
              <a:t>Human approval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3FAAE9E-7804-4C40-9A2C-A4F74DFF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7772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i="1">
                <a:solidFill>
                  <a:srgbClr val="008A8A"/>
                </a:solidFill>
              </a:rPr>
              <a:t>A strong design makes success observable and failure recoverable.</a:t>
            </a:r>
          </a:p>
        </p:txBody>
      </p:sp>
    </p:spTree>
    <p:extLst>
      <p:ext uri="{BB962C8B-B14F-4D97-AF65-F5344CB8AC3E}">
        <p14:creationId xmlns:p14="http://schemas.microsoft.com/office/powerpoint/2010/main" val="18633690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126D85-76DB-4A6C-BC7F-B6E93075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1480"/>
            <a:ext cx="4114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8A8A"/>
                </a:solidFill>
                <a:latin typeface="Arial"/>
                <a:ea typeface="Arial"/>
                <a:cs typeface="Arial"/>
              </a:rPr>
              <a:t>EXERCISE 2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F5C741A-4C04-4EE3-898E-15B199CD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822960"/>
            <a:ext cx="7955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2304A"/>
                </a:solidFill>
                <a:latin typeface="Arial"/>
                <a:ea typeface="Arial"/>
                <a:cs typeface="Arial"/>
              </a:rPr>
              <a:t>Build and test in Gemini Gems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1A6F905-3475-426F-90FD-79AF9941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37360"/>
            <a:ext cx="2487168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A8A"/>
          </a:solidFill>
          <a:ln xmlns:a="http://schemas.openxmlformats.org/drawingml/2006/main" w="12700">
            <a:solidFill>
              <a:srgbClr val="008A8A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EDB253E-E6BF-45C8-BE93-0CCA884A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29968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</a:rPr>
              <a:t>BUILD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0C8D76B-FB52-4998-9F54-FBF52003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51760"/>
            <a:ext cx="199339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Create a Gem with persistent, bounded instructions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6169BEA-A153-4EE3-AA00-ABC46AF2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737360"/>
            <a:ext cx="2487168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12700">
            <a:solidFill>
              <a:srgbClr val="F5B942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05AE461-7259-477A-908E-6EFDEFA1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2029968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2304A"/>
                </a:solidFill>
              </a:rPr>
              <a:t>TEST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FD7E6CB-F905-4FFC-957D-8AFC00F1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2651760"/>
            <a:ext cx="199339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12304A"/>
                </a:solidFill>
              </a:rPr>
              <a:t>Run expected, edge, and unsafe cases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150CAA6-954D-42C0-B7C0-CEA815E2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1737360"/>
            <a:ext cx="2487168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A"/>
          </a:solidFill>
          <a:ln xmlns:a="http://schemas.openxmlformats.org/drawingml/2006/main" w="12700">
            <a:solidFill>
              <a:srgbClr val="1230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EC91D0F-EF1B-4ACD-B707-94DC81F0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816" y="2029968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</a:rPr>
              <a:t>IMPROVE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92CB083-CA97-4892-839A-C7BABD84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816" y="2651760"/>
            <a:ext cx="199339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Add reflection, stopping, and human approval</a:t>
            </a:r>
          </a:p>
        </p:txBody>
      </p:sp>
    </p:spTree>
    <p:extLst>
      <p:ext uri="{BB962C8B-B14F-4D97-AF65-F5344CB8AC3E}">
        <p14:creationId xmlns:p14="http://schemas.microsoft.com/office/powerpoint/2010/main" val="4025395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0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A2AD8EB-A3AA-4310-A56E-C7422458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"/>
            <a:ext cx="6858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</a:rPr>
              <a:t>Responsible deployment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4699931-F75F-4A40-AC6E-3C62FF83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53312"/>
            <a:ext cx="6858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CEE0DF"/>
                </a:solidFill>
              </a:rPr>
              <a:t>A prototype earns a pilot through evidence and control.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B86F810-CAD4-49B3-862F-1B547CFC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14884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12700">
            <a:solidFill>
              <a:srgbClr val="F5B942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6240FDA-1CBA-4B19-8FDE-8B527628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2139696"/>
            <a:ext cx="1920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</a:rPr>
              <a:t>Privacy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9409D2B-D273-4066-AF51-6BE7F64B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2514600"/>
            <a:ext cx="1965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DDE8E8"/>
                </a:solidFill>
              </a:rPr>
              <a:t>Use approved data and minimise collection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8E5EFAE-8F5D-4567-B346-191F2B03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14884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12700">
            <a:solidFill>
              <a:srgbClr val="F5B942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43C705A-CA5F-4ADD-8547-D3063021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776" y="2139696"/>
            <a:ext cx="1920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</a:rPr>
              <a:t>Permission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B7E9D0C-9D5B-4ADD-99ED-EA344AEF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776" y="2514600"/>
            <a:ext cx="1965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DDE8E8"/>
                </a:solidFill>
              </a:rPr>
              <a:t>Bound tools and actions to the task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C36E0D5-9C81-4FDF-8926-0579AF7C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14884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12700">
            <a:solidFill>
              <a:srgbClr val="F5B942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035EEFC-AAAA-4D44-9CB4-308F7A88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264" y="2139696"/>
            <a:ext cx="1920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</a:rPr>
              <a:t>Traceability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56BCF76-15BF-453B-8506-EE478946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264" y="2514600"/>
            <a:ext cx="1965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DDE8E8"/>
                </a:solidFill>
              </a:rPr>
              <a:t>Retain evidence for important outputs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7B75609-F450-46DF-B084-028B1C28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8328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12700">
            <a:solidFill>
              <a:srgbClr val="F5B942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080CD53-9CAC-49E0-9757-0A4B404D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3374136"/>
            <a:ext cx="1920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</a:rPr>
              <a:t>Oversight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ED3F90A-A10E-49DD-A6E3-E3D554CC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3749040"/>
            <a:ext cx="1965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DDE8E8"/>
                </a:solidFill>
              </a:rPr>
              <a:t>Put people at consequential decisions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879BA78-DAA8-4773-9401-E7F1F20C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338328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942"/>
          </a:solidFill>
          <a:ln xmlns:a="http://schemas.openxmlformats.org/drawingml/2006/main" w="12700">
            <a:solidFill>
              <a:srgbClr val="F5B942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E9A4444-7A4D-41D7-91FC-3A65BD88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776" y="3374136"/>
            <a:ext cx="1920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</a:rPr>
              <a:t>Monitoring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D7674A9-5747-4153-ACD6-554FC8A91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776" y="3749040"/>
            <a:ext cx="1965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DDE8E8"/>
                </a:solidFill>
              </a:rPr>
              <a:t>Watch quality, cost, and failure modes</a:t>
            </a:r>
          </a:p>
        </p:txBody>
      </p:sp>
    </p:spTree>
    <p:extLst>
      <p:ext uri="{BB962C8B-B14F-4D97-AF65-F5344CB8AC3E}">
        <p14:creationId xmlns:p14="http://schemas.microsoft.com/office/powerpoint/2010/main" val="18719075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2026-07-11T01:10:15.9770000Z</dcterms:created>
  <dcterms:modified xsi:type="dcterms:W3CDTF">2026-07-11T01:10:15.9770000Z</dcterms:modified>
</coreProperties>
</file>