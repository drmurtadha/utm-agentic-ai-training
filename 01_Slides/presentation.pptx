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ohdmurtadha/Documents/UTM Agentic AI Training/01_Slides/assets/hero-agentic-ai-malaysia.png">    </p:cNvPr>
          <p:cNvPicPr>
            <a:picLocks noChangeAspect="1"/>
          </p:cNvPicPr>
          <p:nvPr/>
        </p:nvPicPr>
        <p:blipFill>
          <a:blip r:embed="rId1">
            <a:alphaModFix amt="98000"/>
          </a:blip>
          <a:stretch>
            <a:fillRect/>
          </a:stretch>
        </p:blipFill>
        <p:spPr>
          <a:xfrm>
            <a:off x="6327648" y="0"/>
            <a:ext cx="5861304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903720" cy="6858000"/>
          </a:xfrm>
          <a:prstGeom prst="rect">
            <a:avLst/>
          </a:prstGeom>
          <a:solidFill>
            <a:srgbClr val="082A3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897880" y="0"/>
            <a:ext cx="1554480" cy="6858000"/>
          </a:xfrm>
          <a:prstGeom prst="rect">
            <a:avLst/>
          </a:prstGeom>
          <a:solidFill>
            <a:srgbClr val="082A3D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49808" y="53035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7C548"/>
                </a:solidFill>
              </a:rPr>
              <a:t>UTM · PENGENALAN AGENTIC AI · 2 JAM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49808" y="1417320"/>
            <a:ext cx="5074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</a:rPr>
              <a:t>Kerja berulang tidak</a:t>
            </a:r>
            <a:endParaRPr lang="en-US" sz="2900" dirty="0"/>
          </a:p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</a:rPr>
              <a:t>semestinya</a:t>
            </a:r>
            <a:endParaRPr lang="en-US" sz="2900" dirty="0"/>
          </a:p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</a:rPr>
              <a:t>memakan masa anda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3685032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4ECEF"/>
                </a:solidFill>
              </a:rPr>
              <a:t>Reka pembantu AI yang fokus, boleh diuji dan sentiasa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4ECEF"/>
                </a:solidFill>
              </a:rPr>
              <a:t>di bawah kawalan manusia.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749808" y="4773168"/>
            <a:ext cx="1143000" cy="54864"/>
          </a:xfrm>
          <a:prstGeom prst="rect">
            <a:avLst/>
          </a:prstGeom>
          <a:solidFill>
            <a:srgbClr val="F7C548"/>
          </a:solidFill>
          <a:ln w="12700">
            <a:solidFill>
              <a:srgbClr val="F7C54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50749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C548"/>
                </a:solidFill>
              </a:rPr>
              <a:t>PM Dr. Mohd Murtadha Mohamad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550468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4ECEF"/>
                </a:solidFill>
              </a:rPr>
              <a:t>21 Julai 2026 · 10.00 pagi–12.00 tengah hari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00A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PENGENALAN DALAM BAHASA MUDAH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498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82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 itu Agentic AI?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600200"/>
            <a:ext cx="4754880" cy="4160520"/>
          </a:xfrm>
          <a:prstGeom prst="roundRect">
            <a:avLst>
              <a:gd name="adj" fmla="val 1319"/>
            </a:avLst>
          </a:prstGeom>
          <a:solidFill>
            <a:srgbClr val="082A3D"/>
          </a:solidFill>
          <a:ln w="12700">
            <a:solidFill>
              <a:srgbClr val="082A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659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Bayangkan pembantu kerja digital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05840" y="2761488"/>
            <a:ext cx="4069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DDE9EC"/>
                </a:solidFill>
              </a:rPr>
              <a:t>Ia bukan sekadar menjawab soalan. Ia boleh mengurus beberapa langkah untuk mencapai hasil yang ditetapkan—dalam batas yang kita berikan.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495604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F7C548"/>
                </a:solidFill>
              </a:rPr>
              <a:t>Kata kunci: MATLAMAT · LANGKAH · SEMAKAN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89320" y="1691640"/>
            <a:ext cx="530352" cy="530352"/>
          </a:xfrm>
          <a:prstGeom prst="ellipse">
            <a:avLst/>
          </a:prstGeom>
          <a:solidFill>
            <a:srgbClr val="00A7A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89320" y="1792224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766560" y="1673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2A3D"/>
                </a:solidFill>
              </a:rPr>
              <a:t>Faham matlamat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66560" y="202996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3747D"/>
                </a:solidFill>
              </a:rPr>
              <a:t>Apakah hasil yang diperlukan?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54496" y="2240280"/>
            <a:ext cx="0" cy="429768"/>
          </a:xfrm>
          <a:prstGeom prst="line">
            <a:avLst/>
          </a:prstGeom>
          <a:noFill/>
          <a:ln w="25400">
            <a:solidFill>
              <a:srgbClr val="C7D7D5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5989320" y="2679192"/>
            <a:ext cx="530352" cy="530352"/>
          </a:xfrm>
          <a:prstGeom prst="ellipse">
            <a:avLst/>
          </a:prstGeom>
          <a:solidFill>
            <a:srgbClr val="00A7A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9320" y="277977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766560" y="2660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2A3D"/>
                </a:solidFill>
              </a:rPr>
              <a:t>Pilih langkah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766560" y="301752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3747D"/>
                </a:solidFill>
              </a:rPr>
              <a:t>Apakah tindakan seterusnya?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54496" y="3227832"/>
            <a:ext cx="0" cy="429768"/>
          </a:xfrm>
          <a:prstGeom prst="line">
            <a:avLst/>
          </a:prstGeom>
          <a:noFill/>
          <a:ln w="25400">
            <a:solidFill>
              <a:srgbClr val="C7D7D5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5989320" y="3666744"/>
            <a:ext cx="530352" cy="530352"/>
          </a:xfrm>
          <a:prstGeom prst="ellipse">
            <a:avLst/>
          </a:prstGeom>
          <a:solidFill>
            <a:srgbClr val="00A7A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89320" y="376732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66560" y="36484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2A3D"/>
                </a:solidFill>
              </a:rPr>
              <a:t>Guna maklumat dan alat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766560" y="400507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3747D"/>
                </a:solidFill>
              </a:rPr>
              <a:t>Hanya sumber dan alat yang dibenarkan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54496" y="4215384"/>
            <a:ext cx="0" cy="429768"/>
          </a:xfrm>
          <a:prstGeom prst="line">
            <a:avLst/>
          </a:prstGeom>
          <a:noFill/>
          <a:ln w="25400">
            <a:solidFill>
              <a:srgbClr val="C7D7D5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5989320" y="4654296"/>
            <a:ext cx="530352" cy="530352"/>
          </a:xfrm>
          <a:prstGeom prst="ellipse">
            <a:avLst/>
          </a:prstGeom>
          <a:solidFill>
            <a:srgbClr val="F7C54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89320" y="4754880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2A3D"/>
                </a:solidFill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766560" y="46360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2A3D"/>
                </a:solidFill>
              </a:rPr>
              <a:t>Semak dan rujuk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766560" y="49926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3747D"/>
                </a:solidFill>
              </a:rPr>
              <a:t>Berhenti apabila manusia diperlukan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58368" y="651052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9099"/>
                </a:solidFill>
              </a:rPr>
              <a:t>UTM · AGENTIC AI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1064240" y="647395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A7A0"/>
                </a:solidFill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00A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KENALI PERANAN SETIAP SATU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498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82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biasa, aliran Agentic AI dan manusia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755648"/>
            <a:ext cx="3401568" cy="3520440"/>
          </a:xfrm>
          <a:prstGeom prst="roundRect">
            <a:avLst>
              <a:gd name="adj" fmla="val 1344"/>
            </a:avLst>
          </a:prstGeom>
          <a:solidFill>
            <a:srgbClr val="DFF3EF"/>
          </a:solidFill>
          <a:ln w="12700">
            <a:solidFill>
              <a:srgbClr val="B5DA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3852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A7A0"/>
                </a:solidFill>
              </a:rPr>
              <a:t>CHATBOT / PEMBANTU 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359152"/>
            <a:ext cx="2944368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242C"/>
                </a:solidFill>
              </a:rPr>
              <a:t>Menjawab satu permintaan pada satu masa.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7242C"/>
                </a:solidFill>
              </a:rPr>
              <a:t>Contoh: draf e-mel atau ringkaskan teks.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7242C"/>
                </a:solidFill>
              </a:rPr>
              <a:t>Anda mengarah setiap interaksi.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89120" y="1755648"/>
            <a:ext cx="3401568" cy="3520440"/>
          </a:xfrm>
          <a:prstGeom prst="roundRect">
            <a:avLst>
              <a:gd name="adj" fmla="val 1344"/>
            </a:avLst>
          </a:prstGeom>
          <a:solidFill>
            <a:srgbClr val="082A3D"/>
          </a:solidFill>
          <a:ln w="12700">
            <a:solidFill>
              <a:srgbClr val="082A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193852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7C548"/>
                </a:solidFill>
              </a:rPr>
              <a:t>ALIRAN AGENTIC AI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17720" y="2359152"/>
            <a:ext cx="2944368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Mengurus beberapa langkah menuju matlamat.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Contoh: baca transkrip, ekstrak tindakan, semak maklumat hilang dan sediakan draf.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Batas menentukan bila ia berhenti.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92440" y="1755648"/>
            <a:ext cx="3401568" cy="3520440"/>
          </a:xfrm>
          <a:prstGeom prst="roundRect">
            <a:avLst>
              <a:gd name="adj" fmla="val 1344"/>
            </a:avLst>
          </a:prstGeom>
          <a:solidFill>
            <a:srgbClr val="FFF5DA"/>
          </a:solidFill>
          <a:ln w="12700">
            <a:solidFill>
              <a:srgbClr val="E9CF8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93852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9A6A00"/>
                </a:solidFill>
              </a:rPr>
              <a:t>MANUSIA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321040" y="2359152"/>
            <a:ext cx="2944368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242C"/>
                </a:solidFill>
              </a:rPr>
              <a:t>Menetapkan matlamat, data dan kebenaran.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7242C"/>
                </a:solidFill>
              </a:rPr>
              <a:t>Menyemak fakta, membuat pertimbangan dan meluluskan tindakan penting.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7242C"/>
                </a:solidFill>
              </a:rPr>
              <a:t>Akauntabiliti kekal pada manusia.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971800" y="5650992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7A0"/>
                </a:solidFill>
              </a:rPr>
              <a:t>AI menyediakan kerja · manusia mengesahkan keputusan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8368" y="651052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9099"/>
                </a:solidFill>
              </a:rPr>
              <a:t>UTM · AGENTIC AI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64240" y="647395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A7A0"/>
                </a:solidFill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00A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KITARAN YANG MUDAH DIPERIKSA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498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82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Agentic AI bekerja?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874520"/>
            <a:ext cx="1874520" cy="23774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5240">
            <a:solidFill>
              <a:srgbClr val="C7D7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6654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7A0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82A3D"/>
                </a:solidFill>
              </a:rPr>
              <a:t>TERIMA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31012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2C"/>
                </a:solidFill>
              </a:rPr>
              <a:t>Matlamat + input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60320" y="2743200"/>
            <a:ext cx="320040" cy="548640"/>
          </a:xfrm>
          <a:prstGeom prst="chevron">
            <a:avLst/>
          </a:prstGeom>
          <a:solidFill>
            <a:srgbClr val="00A7A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26080" y="1874520"/>
            <a:ext cx="1874520" cy="23774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5240">
            <a:solidFill>
              <a:srgbClr val="C7D7D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90672" y="206654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7A0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090672" y="27432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82A3D"/>
                </a:solidFill>
              </a:rPr>
              <a:t>RANCANG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090672" y="331012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2C"/>
                </a:solidFill>
              </a:rPr>
              <a:t>Pecahkan tugasan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28032" y="2743200"/>
            <a:ext cx="320040" cy="548640"/>
          </a:xfrm>
          <a:prstGeom prst="chevron">
            <a:avLst/>
          </a:prstGeom>
          <a:solidFill>
            <a:srgbClr val="00A7A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93792" y="1874520"/>
            <a:ext cx="1874520" cy="2377440"/>
          </a:xfrm>
          <a:prstGeom prst="roundRect">
            <a:avLst>
              <a:gd name="adj" fmla="val 2439"/>
            </a:avLst>
          </a:prstGeom>
          <a:solidFill>
            <a:srgbClr val="082A3D"/>
          </a:solidFill>
          <a:ln w="15240">
            <a:solidFill>
              <a:srgbClr val="082A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58384" y="206654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C548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358384" y="27432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BERTINDAK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358384" y="331012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9E7EA"/>
                </a:solidFill>
              </a:rPr>
              <a:t>Guna alat yang dibenarkan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095744" y="2743200"/>
            <a:ext cx="320040" cy="548640"/>
          </a:xfrm>
          <a:prstGeom prst="chevron">
            <a:avLst/>
          </a:prstGeom>
          <a:solidFill>
            <a:srgbClr val="00A7A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61504" y="1874520"/>
            <a:ext cx="1874520" cy="23774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5240">
            <a:solidFill>
              <a:srgbClr val="C7D7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26096" y="206654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7A0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626096" y="27432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82A3D"/>
                </a:solidFill>
              </a:rPr>
              <a:t>SEMAK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626096" y="331012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2C"/>
                </a:solidFill>
              </a:rPr>
              <a:t>Banding dengan kriteria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363456" y="2743200"/>
            <a:ext cx="320040" cy="548640"/>
          </a:xfrm>
          <a:prstGeom prst="chevron">
            <a:avLst/>
          </a:prstGeom>
          <a:solidFill>
            <a:srgbClr val="00A7A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29216" y="1874520"/>
            <a:ext cx="1874520" cy="2377440"/>
          </a:xfrm>
          <a:prstGeom prst="roundRect">
            <a:avLst>
              <a:gd name="adj" fmla="val 2439"/>
            </a:avLst>
          </a:prstGeom>
          <a:solidFill>
            <a:srgbClr val="F7C548"/>
          </a:solidFill>
          <a:ln w="15240">
            <a:solidFill>
              <a:srgbClr val="F7C54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93808" y="206654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7A0"/>
                </a:solidFill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893808" y="27432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82A3D"/>
                </a:solidFill>
              </a:rPr>
              <a:t>HASIL / RUJUK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893808" y="331012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2C"/>
                </a:solidFill>
              </a:rPr>
              <a:t>Serahkan draf atau rujuk manusia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194560" y="4800600"/>
            <a:ext cx="7818120" cy="685800"/>
          </a:xfrm>
          <a:prstGeom prst="roundRect">
            <a:avLst>
              <a:gd name="adj" fmla="val 5333"/>
            </a:avLst>
          </a:prstGeom>
          <a:solidFill>
            <a:srgbClr val="E8F1F0"/>
          </a:solidFill>
          <a:ln w="12700">
            <a:solidFill>
              <a:srgbClr val="C5DDD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14600" y="5020056"/>
            <a:ext cx="7178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2A3D"/>
                </a:solidFill>
              </a:rPr>
              <a:t>Manusia menetapkan matlamat dan batas  →  AI menyediakan kerja  →  manusia mengesahkan keputusan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58368" y="651052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9099"/>
                </a:solidFill>
              </a:rPr>
              <a:t>UTM · AGENTIC AI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064240" y="647395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A7A0"/>
                </a:solidFill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00A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HANYA UNTUK BIDANG IT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498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82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 penggunaan yang dekat dengan kerja kita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3401568" cy="1755648"/>
          </a:xfrm>
          <a:prstGeom prst="roundRect">
            <a:avLst>
              <a:gd name="adj" fmla="val 2604"/>
            </a:avLst>
          </a:prstGeom>
          <a:solidFill>
            <a:srgbClr val="082A3D"/>
          </a:solidFill>
          <a:ln w="12700">
            <a:solidFill>
              <a:srgbClr val="082A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17556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C548"/>
                </a:solidFill>
              </a:rPr>
              <a:t>MESYUARAT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86968" y="2176272"/>
            <a:ext cx="29443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FFFFFF"/>
                </a:solidFill>
              </a:rPr>
              <a:t>Audio/transkrip → draf minit, keputusan dan daftar tindakan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3419856" y="171907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1AFB9"/>
                </a:solidFill>
              </a:rPr>
              <a:t>01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453128" y="1572768"/>
            <a:ext cx="3401568" cy="1755648"/>
          </a:xfrm>
          <a:prstGeom prst="roundRect">
            <a:avLst>
              <a:gd name="adj" fmla="val 2604"/>
            </a:avLst>
          </a:prstGeom>
          <a:solidFill>
            <a:srgbClr val="FFF5DA"/>
          </a:solidFill>
          <a:ln w="12700">
            <a:solidFill>
              <a:srgbClr val="C7D7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17556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A7A0"/>
                </a:solidFill>
              </a:rPr>
              <a:t>MAKMAL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81728" y="2176272"/>
            <a:ext cx="29443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7242C"/>
                </a:solidFill>
              </a:rPr>
              <a:t>Semak SOP → senarai persediaan, risiko dan perkara perlu kelulusan</a:t>
            </a:r>
            <a:endParaRPr lang="en-US" sz="1130" dirty="0"/>
          </a:p>
        </p:txBody>
      </p:sp>
      <p:sp>
        <p:nvSpPr>
          <p:cNvPr id="11" name="Text 9"/>
          <p:cNvSpPr/>
          <p:nvPr/>
        </p:nvSpPr>
        <p:spPr>
          <a:xfrm>
            <a:off x="7214616" y="171907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0AAA7"/>
                </a:solidFill>
              </a:rPr>
              <a:t>02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47888" y="1572768"/>
            <a:ext cx="3401568" cy="1755648"/>
          </a:xfrm>
          <a:prstGeom prst="roundRect">
            <a:avLst>
              <a:gd name="adj" fmla="val 2604"/>
            </a:avLst>
          </a:prstGeom>
          <a:solidFill>
            <a:srgbClr val="DFF3EF"/>
          </a:solidFill>
          <a:ln w="12700">
            <a:solidFill>
              <a:srgbClr val="C7D7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6488" y="17556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A7A0"/>
                </a:solidFill>
              </a:rPr>
              <a:t>PENGAJARAN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76488" y="2176272"/>
            <a:ext cx="29443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7242C"/>
                </a:solidFill>
              </a:rPr>
              <a:t>Hasil pembelajaran → draf aktiviti, rubrik dan soalan refleksi</a:t>
            </a:r>
            <a:endParaRPr lang="en-US" sz="1130" dirty="0"/>
          </a:p>
        </p:txBody>
      </p:sp>
      <p:sp>
        <p:nvSpPr>
          <p:cNvPr id="15" name="Text 13"/>
          <p:cNvSpPr/>
          <p:nvPr/>
        </p:nvSpPr>
        <p:spPr>
          <a:xfrm>
            <a:off x="11009376" y="171907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0AAA7"/>
                </a:solidFill>
              </a:rPr>
              <a:t>03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3721608"/>
            <a:ext cx="3401568" cy="1755648"/>
          </a:xfrm>
          <a:prstGeom prst="roundRect">
            <a:avLst>
              <a:gd name="adj" fmla="val 2604"/>
            </a:avLst>
          </a:prstGeom>
          <a:solidFill>
            <a:srgbClr val="DFF3EF"/>
          </a:solidFill>
          <a:ln w="12700">
            <a:solidFill>
              <a:srgbClr val="C7D7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" y="390448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A7A0"/>
                </a:solidFill>
              </a:rPr>
              <a:t>PENTADBIRAN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325112"/>
            <a:ext cx="29443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7242C"/>
                </a:solidFill>
              </a:rPr>
              <a:t>Permohonan masuk → semak kelengkapan dan salurkan kepada pegawai</a:t>
            </a:r>
            <a:endParaRPr lang="en-US" sz="1130" dirty="0"/>
          </a:p>
        </p:txBody>
      </p:sp>
      <p:sp>
        <p:nvSpPr>
          <p:cNvPr id="19" name="Text 17"/>
          <p:cNvSpPr/>
          <p:nvPr/>
        </p:nvSpPr>
        <p:spPr>
          <a:xfrm>
            <a:off x="3419856" y="386791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0AAA7"/>
                </a:solidFill>
              </a:rPr>
              <a:t>04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53128" y="3721608"/>
            <a:ext cx="3401568" cy="1755648"/>
          </a:xfrm>
          <a:prstGeom prst="roundRect">
            <a:avLst>
              <a:gd name="adj" fmla="val 2604"/>
            </a:avLst>
          </a:prstGeom>
          <a:solidFill>
            <a:srgbClr val="DFF3EF"/>
          </a:solidFill>
          <a:ln w="12700">
            <a:solidFill>
              <a:srgbClr val="C7D7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81728" y="390448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A7A0"/>
                </a:solidFill>
              </a:rPr>
              <a:t>OPERASI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681728" y="4325112"/>
            <a:ext cx="29443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7242C"/>
                </a:solidFill>
              </a:rPr>
              <a:t>Log/aduan → kelompok isu, keutamaan dan draf laporan berkala</a:t>
            </a:r>
            <a:endParaRPr lang="en-US" sz="1130" dirty="0"/>
          </a:p>
        </p:txBody>
      </p:sp>
      <p:sp>
        <p:nvSpPr>
          <p:cNvPr id="23" name="Text 21"/>
          <p:cNvSpPr/>
          <p:nvPr/>
        </p:nvSpPr>
        <p:spPr>
          <a:xfrm>
            <a:off x="7214616" y="386791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0AAA7"/>
                </a:solidFill>
              </a:rPr>
              <a:t>05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47888" y="3721608"/>
            <a:ext cx="3401568" cy="1755648"/>
          </a:xfrm>
          <a:prstGeom prst="roundRect">
            <a:avLst>
              <a:gd name="adj" fmla="val 2604"/>
            </a:avLst>
          </a:prstGeom>
          <a:solidFill>
            <a:srgbClr val="DFF3EF"/>
          </a:solidFill>
          <a:ln w="12700">
            <a:solidFill>
              <a:srgbClr val="C7D7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76488" y="390448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A7A0"/>
                </a:solidFill>
              </a:rPr>
              <a:t>PENYELIDIKAN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476488" y="4325112"/>
            <a:ext cx="29443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7242C"/>
                </a:solidFill>
              </a:rPr>
              <a:t>Sumber literatur dibenarkan → tema, jurang dan jadual sumber bukti</a:t>
            </a:r>
            <a:endParaRPr lang="en-US" sz="1130" dirty="0"/>
          </a:p>
        </p:txBody>
      </p:sp>
      <p:sp>
        <p:nvSpPr>
          <p:cNvPr id="27" name="Text 25"/>
          <p:cNvSpPr/>
          <p:nvPr/>
        </p:nvSpPr>
        <p:spPr>
          <a:xfrm>
            <a:off x="11009376" y="386791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0AAA7"/>
                </a:solidFill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58368" y="651052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9099"/>
                </a:solidFill>
              </a:rPr>
              <a:t>UTM · AGENTIC AI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064240" y="647395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A7A0"/>
                </a:solidFill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00A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PILIH RISIKO RENDAH DAN HASIL MUDAH DISEMAK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498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82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Mulakan dengan tugas yang sesuai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49808" y="1572768"/>
            <a:ext cx="10744200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3D9B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1865376"/>
            <a:ext cx="530352" cy="530352"/>
          </a:xfrm>
          <a:prstGeom prst="ellipse">
            <a:avLst/>
          </a:prstGeom>
          <a:solidFill>
            <a:srgbClr val="3D9B7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17465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82A3D"/>
                </a:solidFill>
              </a:rPr>
              <a:t>SESUAI UNTUK DIMULAKAN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783080" y="21762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3747D"/>
                </a:solidFill>
              </a:rPr>
              <a:t>Berulang · input jelas · output draf · mudah disemak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760720" y="1874520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7242C"/>
                </a:solidFill>
              </a:rPr>
              <a:t>Meringkas transkrip, menyusun tindakan, menyediakan senarai semak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49808" y="3008376"/>
            <a:ext cx="10744200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7C54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3300984"/>
            <a:ext cx="530352" cy="530352"/>
          </a:xfrm>
          <a:prstGeom prst="ellipse">
            <a:avLst/>
          </a:prstGeom>
          <a:solidFill>
            <a:srgbClr val="F7C54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83080" y="31821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82A3D"/>
                </a:solidFill>
              </a:rPr>
              <a:t>PERLU KAWALAN TAMBAHAN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783080" y="3611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3747D"/>
                </a:solidFill>
              </a:rPr>
              <a:t>Data dalaman/sensitif · banyak pengecualian · kesan kepada orang lain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760720" y="3310128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7242C"/>
                </a:solidFill>
              </a:rPr>
              <a:t>Saringan permohonan, cadangan jadual, laporan pengurusan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49808" y="4443984"/>
            <a:ext cx="10744200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E56B5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24128" y="4736592"/>
            <a:ext cx="530352" cy="530352"/>
          </a:xfrm>
          <a:prstGeom prst="ellipse">
            <a:avLst/>
          </a:prstGeom>
          <a:solidFill>
            <a:srgbClr val="E56B5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83080" y="4617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82A3D"/>
                </a:solidFill>
              </a:rPr>
              <a:t>JANGAN AUTOMASIKAN SEPENUHNYA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783080" y="50474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3747D"/>
                </a:solidFill>
              </a:rPr>
              <a:t>Keputusan berimpak tinggi · data sangat sensitif · tindakan rasmi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760720" y="4745736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7242C"/>
                </a:solidFill>
              </a:rPr>
              <a:t>Kelulusan, penilaian, disiplin, kewangan atau keselamatan tanpa manusia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8368" y="651052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9099"/>
                </a:solidFill>
              </a:rPr>
              <a:t>UTM · AGENTIC AI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064240" y="647395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A7A0"/>
                </a:solidFill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00A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DEMONSTRASI + LATIHAN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498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82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Permintaan kabur menjadi aliran yang boleh diuji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13232" y="1572768"/>
            <a:ext cx="3401568" cy="1481328"/>
          </a:xfrm>
          <a:prstGeom prst="roundRect">
            <a:avLst>
              <a:gd name="adj" fmla="val 2469"/>
            </a:avLst>
          </a:prstGeom>
          <a:solidFill>
            <a:srgbClr val="F7F3EA"/>
          </a:solidFill>
          <a:ln w="12700">
            <a:solidFill>
              <a:srgbClr val="DDD7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23544" y="1737360"/>
            <a:ext cx="411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7A0"/>
                </a:solidFill>
              </a:rPr>
              <a:t>01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23544" y="208483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82A3D"/>
                </a:solidFill>
              </a:rPr>
              <a:t>Pengguna + tugas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23544" y="2505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3747D"/>
                </a:solidFill>
              </a:rPr>
              <a:t>Siapa menggunakan pembantu, untuk kerja apa?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07992" y="1572768"/>
            <a:ext cx="3401568" cy="1481328"/>
          </a:xfrm>
          <a:prstGeom prst="roundRect">
            <a:avLst>
              <a:gd name="adj" fmla="val 2469"/>
            </a:avLst>
          </a:prstGeom>
          <a:solidFill>
            <a:srgbClr val="F7F3EA"/>
          </a:solidFill>
          <a:ln w="12700">
            <a:solidFill>
              <a:srgbClr val="DDD7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18304" y="1737360"/>
            <a:ext cx="411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7A0"/>
                </a:solidFill>
              </a:rPr>
              <a:t>02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18304" y="208483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82A3D"/>
                </a:solidFill>
              </a:rPr>
              <a:t>Matlamat + luar skop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18304" y="2505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3747D"/>
                </a:solidFill>
              </a:rPr>
              <a:t>Apakah hasil dan perkara yang tidak boleh dibuat?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302752" y="1572768"/>
            <a:ext cx="3401568" cy="1481328"/>
          </a:xfrm>
          <a:prstGeom prst="roundRect">
            <a:avLst>
              <a:gd name="adj" fmla="val 2469"/>
            </a:avLst>
          </a:prstGeom>
          <a:solidFill>
            <a:srgbClr val="F7F3EA"/>
          </a:solidFill>
          <a:ln w="12700">
            <a:solidFill>
              <a:srgbClr val="DDD7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13064" y="1737360"/>
            <a:ext cx="411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7A0"/>
                </a:solidFill>
              </a:rPr>
              <a:t>03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513064" y="208483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82A3D"/>
                </a:solidFill>
              </a:rPr>
              <a:t>Input + alat dibenarkan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13064" y="2505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3747D"/>
                </a:solidFill>
              </a:rPr>
              <a:t>Dokumen atau sumber mana yang boleh digunakan?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13232" y="3401568"/>
            <a:ext cx="3401568" cy="1481328"/>
          </a:xfrm>
          <a:prstGeom prst="roundRect">
            <a:avLst>
              <a:gd name="adj" fmla="val 2469"/>
            </a:avLst>
          </a:prstGeom>
          <a:solidFill>
            <a:srgbClr val="F7F3EA"/>
          </a:solidFill>
          <a:ln w="12700">
            <a:solidFill>
              <a:srgbClr val="DDD7C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" y="3566160"/>
            <a:ext cx="411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7A0"/>
                </a:solidFill>
              </a:rPr>
              <a:t>04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23544" y="391363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82A3D"/>
                </a:solidFill>
              </a:rPr>
              <a:t>Hasil + ukuran kejayaan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23544" y="43342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3747D"/>
                </a:solidFill>
              </a:rPr>
              <a:t>Bagaimana kita tahu hasilnya berguna dan tepat?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07992" y="3401568"/>
            <a:ext cx="3401568" cy="1481328"/>
          </a:xfrm>
          <a:prstGeom prst="roundRect">
            <a:avLst>
              <a:gd name="adj" fmla="val 2469"/>
            </a:avLst>
          </a:prstGeom>
          <a:solidFill>
            <a:srgbClr val="F7C548"/>
          </a:solidFill>
          <a:ln w="12700">
            <a:solidFill>
              <a:srgbClr val="F7C5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18304" y="3566160"/>
            <a:ext cx="411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7A0"/>
                </a:solidFill>
              </a:rPr>
              <a:t>05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718304" y="391363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82A3D"/>
                </a:solidFill>
              </a:rPr>
              <a:t>Kes ujian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18304" y="43342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3747D"/>
                </a:solidFill>
              </a:rPr>
              <a:t>Uji situasi biasa, luar biasa dan tidak selamat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302752" y="3401568"/>
            <a:ext cx="3401568" cy="1481328"/>
          </a:xfrm>
          <a:prstGeom prst="roundRect">
            <a:avLst>
              <a:gd name="adj" fmla="val 2469"/>
            </a:avLst>
          </a:prstGeom>
          <a:solidFill>
            <a:srgbClr val="F7F3EA"/>
          </a:solidFill>
          <a:ln w="12700">
            <a:solidFill>
              <a:srgbClr val="DDD7C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13064" y="3566160"/>
            <a:ext cx="411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7A0"/>
                </a:solidFill>
              </a:rPr>
              <a:t>06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13064" y="391363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82A3D"/>
                </a:solidFill>
              </a:rPr>
              <a:t>Kelulusan manusia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513064" y="43342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3747D"/>
                </a:solidFill>
              </a:rPr>
              <a:t>Bilakah pembantu mesti berhenti dan merujuk?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280160" y="534924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00A7A0"/>
                </a:solidFill>
              </a:rPr>
              <a:t>Reka bentuk yang baik menjadikan kejayaan boleh dilihat dan kegagalan boleh dipulihkan.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658368" y="651052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9099"/>
                </a:solidFill>
              </a:rPr>
              <a:t>UTM · AGENTIC AI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1064240" y="647395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A7A0"/>
                </a:solidFill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00A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LATIHAN 2 — GEMINI GEMS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498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82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 kecil, uji keras, tambah baik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13232" y="1737360"/>
            <a:ext cx="3401568" cy="3383280"/>
          </a:xfrm>
          <a:prstGeom prst="roundRect">
            <a:avLst>
              <a:gd name="adj" fmla="val 1351"/>
            </a:avLst>
          </a:prstGeom>
          <a:solidFill>
            <a:srgbClr val="00A7A0"/>
          </a:solidFill>
          <a:ln w="12700">
            <a:solidFill>
              <a:srgbClr val="00A7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C548"/>
                </a:solidFill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87552" y="27432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BINA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87552" y="3493008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Cipta pembantu dengan arahan kekal, ruang lingkup dan format hasil.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35424" y="1737360"/>
            <a:ext cx="3401568" cy="3383280"/>
          </a:xfrm>
          <a:prstGeom prst="roundRect">
            <a:avLst>
              <a:gd name="adj" fmla="val 1351"/>
            </a:avLst>
          </a:prstGeom>
          <a:solidFill>
            <a:srgbClr val="F7C548"/>
          </a:solidFill>
          <a:ln w="12700">
            <a:solidFill>
              <a:srgbClr val="F7C5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9744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7A0"/>
                </a:solidFill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09744" y="27432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82A3D"/>
                </a:solidFill>
              </a:rPr>
              <a:t>UJI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809744" y="3493008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82A3D"/>
                </a:solidFill>
              </a:rPr>
              <a:t>Jalankan situasi biasa, luar biasa dan permintaan tidak selamat.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357616" y="1737360"/>
            <a:ext cx="3401568" cy="3383280"/>
          </a:xfrm>
          <a:prstGeom prst="roundRect">
            <a:avLst>
              <a:gd name="adj" fmla="val 1351"/>
            </a:avLst>
          </a:prstGeom>
          <a:solidFill>
            <a:srgbClr val="082A3D"/>
          </a:solidFill>
          <a:ln w="12700">
            <a:solidFill>
              <a:srgbClr val="082A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31936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C548"/>
                </a:solidFill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631936" y="27432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TAMBAH BAIK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631936" y="3493008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Ubah satu arahan, jalankan semula dan bandingkan bukti.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651052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9099"/>
                </a:solidFill>
              </a:rPr>
              <a:t>UTM · AGENTIC AI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064240" y="647395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A7A0"/>
                </a:solidFill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7C5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PENGGUNAAN BERTANGGUNGJAWAB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498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Prototaip memerlukan bukti dan kawalan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D7E4E8"/>
                </a:solidFill>
              </a:rPr>
              <a:t>Agentic AI membantu menyediakan kerja. Manusia kekal bertanggungjawab terhadap keputusan.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13232" y="2212848"/>
            <a:ext cx="420624" cy="420624"/>
          </a:xfrm>
          <a:prstGeom prst="ellipse">
            <a:avLst/>
          </a:prstGeom>
          <a:solidFill>
            <a:srgbClr val="F7C54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5024" y="21945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PRIVASI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35024" y="259689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1EDF0"/>
                </a:solidFill>
              </a:rPr>
              <a:t>Gunakan data yang diluluskan dan minimumkan pendedahan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80560" y="2212848"/>
            <a:ext cx="420624" cy="420624"/>
          </a:xfrm>
          <a:prstGeom prst="ellipse">
            <a:avLst/>
          </a:prstGeom>
          <a:solidFill>
            <a:srgbClr val="F7C54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02352" y="21945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KEBENARAN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02352" y="259689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1EDF0"/>
                </a:solidFill>
              </a:rPr>
              <a:t>Hadkan alat dan tindakan kepada ruang lingkup tugasan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47888" y="2212848"/>
            <a:ext cx="420624" cy="420624"/>
          </a:xfrm>
          <a:prstGeom prst="ellipse">
            <a:avLst/>
          </a:prstGeom>
          <a:solidFill>
            <a:srgbClr val="F7C54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0" y="21945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BUKTI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869680" y="259689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1EDF0"/>
                </a:solidFill>
              </a:rPr>
              <a:t>Simpan sumber bagi hasil yang penting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331720" y="3749040"/>
            <a:ext cx="420624" cy="420624"/>
          </a:xfrm>
          <a:prstGeom prst="ellipse">
            <a:avLst/>
          </a:prstGeom>
          <a:solidFill>
            <a:srgbClr val="F7C54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53512" y="3730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SEMAKAN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53512" y="413308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1EDF0"/>
                </a:solidFill>
              </a:rPr>
              <a:t>Letakkan manusia pada keputusan berimpak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0" y="3749040"/>
            <a:ext cx="420624" cy="420624"/>
          </a:xfrm>
          <a:prstGeom prst="ellipse">
            <a:avLst/>
          </a:prstGeom>
          <a:solidFill>
            <a:srgbClr val="F7C54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22592" y="3730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BERHENTI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22592" y="413308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1EDF0"/>
                </a:solidFill>
              </a:rPr>
              <a:t>Rujuk manusia apabila maklumat tidak cukup atau risiko meningkat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057400" y="5321808"/>
            <a:ext cx="8046720" cy="658368"/>
          </a:xfrm>
          <a:prstGeom prst="roundRect">
            <a:avLst>
              <a:gd name="adj" fmla="val 5556"/>
            </a:avLst>
          </a:prstGeom>
          <a:solidFill>
            <a:srgbClr val="00A7A0">
              <a:alpha val="9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423160" y="55321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Mulakan kecil · ukur hasil · semak manusia · tambah kuasa bertindak hanya dengan bukti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8368" y="651052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1AFB9"/>
                </a:solidFill>
              </a:rPr>
              <a:t>UTM · AGENTIC AI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64240" y="647395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7C548"/>
                </a:solidFill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Universiti Teknologi Malaysia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Memanfaatkan Agentic AI untuk Meningkatkan Produktiviti Harian</dc:title>
  <dc:subject>Pengenalan Agentic AI untuk peserta pelbagai latar belakang</dc:subject>
  <dc:creator>UTM Agentic AI Training</dc:creator>
  <cp:lastModifiedBy>UTM Agentic AI Training</cp:lastModifiedBy>
  <cp:revision>1</cp:revision>
  <dcterms:created xsi:type="dcterms:W3CDTF">2026-07-11T23:03:06Z</dcterms:created>
  <dcterms:modified xsi:type="dcterms:W3CDTF">2026-07-11T23:03:06Z</dcterms:modified>
</cp:coreProperties>
</file>