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00000">
            <a:off x="6400800" y="-457200"/>
            <a:ext cx="2926080" cy="2926080"/>
          </a:xfrm>
          <a:prstGeom prst="arc">
            <a:avLst/>
          </a:prstGeom>
          <a:solidFill>
            <a:srgbClr val="008A8A">
              <a:alpha val="90000"/>
            </a:srgbClr>
          </a:solidFill>
          <a:ln w="12700">
            <a:solidFill>
              <a:srgbClr val="008A8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3291840"/>
            <a:ext cx="1280160" cy="1280160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942"/>
                </a:solidFill>
              </a:rPr>
              <a:t>UTM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5943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Memanfaatkan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Agentic AI untuk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Meningkatkan Produktiviti Harian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58368" y="338328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</a:rPr>
              <a:t>PM Dr. Mohd Murtadha Mohamad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82219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8E8"/>
                </a:solidFill>
              </a:rPr>
              <a:t>21 Julai 2026 (Selasa)  ·  10.00 pagi – 11.00 pagi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DISTINCTION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assistant vs agentic AI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657600" cy="2560320"/>
          </a:xfrm>
          <a:prstGeom prst="rect">
            <a:avLst/>
          </a:prstGeom>
          <a:solidFill>
            <a:srgbClr val="E8F1F0"/>
          </a:solidFill>
          <a:ln w="12700">
            <a:solidFill>
              <a:srgbClr val="008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A8A"/>
                </a:solidFill>
              </a:rPr>
              <a:t>AI ASSISTANT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4A"/>
                </a:solidFill>
              </a:rPr>
              <a:t>Responds using reusable instructions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</a:rPr>
              <a:t>You direct each interaction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92040" y="1645920"/>
            <a:ext cx="3657600" cy="2560320"/>
          </a:xfrm>
          <a:prstGeom prst="rect">
            <a:avLst/>
          </a:prstGeom>
          <a:solidFill>
            <a:srgbClr val="12304A"/>
          </a:solidFill>
          <a:ln w="12700">
            <a:solidFill>
              <a:srgbClr val="1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6636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942"/>
                </a:solidFill>
              </a:rPr>
              <a:t>AGENTIC WORKFLOW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66360" y="2606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Observes, decides, acts, and checks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16636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8E8"/>
                </a:solidFill>
              </a:rPr>
              <a:t>Controls define when to stop or escalate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WORKPLACE EXAMPLES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could this help at work?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749040" cy="1143000"/>
          </a:xfrm>
          <a:prstGeom prst="rect">
            <a:avLst/>
          </a:prstGeom>
          <a:solidFill>
            <a:srgbClr val="E8F1F0"/>
          </a:solidFill>
          <a:ln w="12700">
            <a:solidFill>
              <a:srgbClr val="C8DD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874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8A8A"/>
                </a:solidFill>
              </a:rPr>
              <a:t>TEACHING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50392" y="222199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B"/>
                </a:solidFill>
              </a:rPr>
              <a:t>Turn learning outcomes into a draft activity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691640"/>
            <a:ext cx="3749040" cy="1143000"/>
          </a:xfrm>
          <a:prstGeom prst="rect">
            <a:avLst/>
          </a:prstGeom>
          <a:solidFill>
            <a:srgbClr val="E8F1F0"/>
          </a:solidFill>
          <a:ln w="12700">
            <a:solidFill>
              <a:srgbClr val="C8DD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02352" y="1874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8A8A"/>
                </a:solidFill>
              </a:rPr>
              <a:t>RESEARCH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02352" y="222199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B"/>
                </a:solidFill>
              </a:rPr>
              <a:t>Screen and structure approved literature notes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200400"/>
            <a:ext cx="3749040" cy="1143000"/>
          </a:xfrm>
          <a:prstGeom prst="rect">
            <a:avLst/>
          </a:prstGeom>
          <a:solidFill>
            <a:srgbClr val="E8F1F0"/>
          </a:solidFill>
          <a:ln w="12700">
            <a:solidFill>
              <a:srgbClr val="C8DD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3383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8A8A"/>
                </a:solidFill>
              </a:rPr>
              <a:t>ADMIN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0392" y="373075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2B"/>
                </a:solidFill>
              </a:rPr>
              <a:t>Draft recurring replies from approved guidance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46320" y="3200400"/>
            <a:ext cx="3749040" cy="1143000"/>
          </a:xfrm>
          <a:prstGeom prst="rect">
            <a:avLst/>
          </a:prstGeom>
          <a:solidFill>
            <a:srgbClr val="12304A"/>
          </a:solidFill>
          <a:ln w="12700">
            <a:solidFill>
              <a:srgbClr val="12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02352" y="3383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B942"/>
                </a:solidFill>
              </a:rPr>
              <a:t>STUDENT SUPPORT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02352" y="373075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Triage a request and escalate sensitive cases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 + EXERCISE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vague request to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D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647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8A"/>
                </a:solidFill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0391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</a:rPr>
              <a:t>User + task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74720" y="160020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D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17647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8A"/>
                </a:solidFill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20391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</a:rPr>
              <a:t>Goal + non-goals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D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647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8A"/>
                </a:solidFill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20391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</a:rPr>
              <a:t>Persistent instructions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292608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D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090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8A"/>
                </a:solidFill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336499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</a:rPr>
              <a:t>Output + measures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474720" y="292608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3090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8A"/>
                </a:solidFill>
              </a:rPr>
              <a:t>05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0" y="336499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</a:rPr>
              <a:t>Test cases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292608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D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3090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8A"/>
                </a:solidFill>
              </a:rPr>
              <a:t>06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46520" y="336499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304A"/>
                </a:solidFill>
              </a:rPr>
              <a:t>Human approval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43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08A8A"/>
                </a:solidFill>
              </a:rPr>
              <a:t>A strong design makes success observable and failure recoverable.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test in Gemini Gems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487168" cy="2240280"/>
          </a:xfrm>
          <a:prstGeom prst="rect">
            <a:avLst/>
          </a:prstGeom>
          <a:solidFill>
            <a:srgbClr val="008A8A"/>
          </a:solidFill>
          <a:ln w="12700">
            <a:solidFill>
              <a:srgbClr val="008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299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BUILD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993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Create a Gem with persistent, bounded instructions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47288" y="1737360"/>
            <a:ext cx="2487168" cy="2240280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75888" y="20299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4A"/>
                </a:solidFill>
              </a:rPr>
              <a:t>TEST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75888" y="2651760"/>
            <a:ext cx="1993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04A"/>
                </a:solidFill>
              </a:rPr>
              <a:t>Run expected, edge, and unsafe cases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0216" y="1737360"/>
            <a:ext cx="2487168" cy="2240280"/>
          </a:xfrm>
          <a:prstGeom prst="rect">
            <a:avLst/>
          </a:prstGeom>
          <a:solidFill>
            <a:srgbClr val="12304A"/>
          </a:solidFill>
          <a:ln w="12700">
            <a:solidFill>
              <a:srgbClr val="12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8816" y="20299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IMPROVE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2651760"/>
            <a:ext cx="1993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Add reflection, stopping, and human approval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Responsible deployment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35331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EE0DF"/>
                </a:solidFill>
              </a:rPr>
              <a:t>A prototype earns a pilot through evidence and control.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58368" y="2148840"/>
            <a:ext cx="347472" cy="34747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213969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Privacy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61288" y="251460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E8E8"/>
                </a:solidFill>
              </a:rPr>
              <a:t>Use approved data and minimise collection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19856" y="2148840"/>
            <a:ext cx="347472" cy="34747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22776" y="213969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Permission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22776" y="251460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E8E8"/>
                </a:solidFill>
              </a:rPr>
              <a:t>Bound tools and actions to the task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2148840"/>
            <a:ext cx="347472" cy="34747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84264" y="213969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Traceability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84264" y="251460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E8E8"/>
                </a:solidFill>
              </a:rPr>
              <a:t>Retain evidence for important outputs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3383280"/>
            <a:ext cx="347472" cy="34747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7413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Oversight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61288" y="374904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E8E8"/>
                </a:solidFill>
              </a:rPr>
              <a:t>Put people at consequential decisions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19856" y="3383280"/>
            <a:ext cx="347472" cy="34747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22776" y="337413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Monitoring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922776" y="374904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E8E8"/>
                </a:solidFill>
              </a:rPr>
              <a:t>Watch quality, cost, and failure modes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Universiti Teknologi Malaysia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Memanfaatkan Agentic AI untuk Meningkatkan Produktiviti Harian</dc:title>
  <dc:subject>Memanfaatkan Agentic AI untuk Meningkatkan Produktiviti Harian</dc:subject>
  <dc:creator>UTM Agentic AI Training</dc:creator>
  <cp:lastModifiedBy>UTM Agentic AI Training</cp:lastModifiedBy>
  <cp:revision>1</cp:revision>
  <dcterms:created xsi:type="dcterms:W3CDTF">2026-07-10T02:30:18Z</dcterms:created>
  <dcterms:modified xsi:type="dcterms:W3CDTF">2026-07-10T02:30:18Z</dcterms:modified>
</cp:coreProperties>
</file>