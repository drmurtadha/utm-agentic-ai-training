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7b56e5384c483f" /><Relationship Type="http://schemas.openxmlformats.org/officeDocument/2006/relationships/extended-properties" Target="/docProps/app.xml" Id="Rd3b92cc1a0834fbf" /><Relationship Type="http://schemas.openxmlformats.org/officeDocument/2006/relationships/officeDocument" Target="/ppt/presentation.xml" Id="R8374e7c9aafd45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4b81f0f32243fc"/>
  </p:sldMasterIdLst>
  <p:notesMasterIdLst>
    <p:notesMasterId xmlns:r="http://schemas.openxmlformats.org/officeDocument/2006/relationships" r:id="R9f8b80e867e64dce"/>
  </p:notesMasterIdLst>
  <p:sldIdLst>
    <p:sldId xmlns:r="http://schemas.openxmlformats.org/officeDocument/2006/relationships" id="256" r:id="R8baad3a761954941"/>
    <p:sldId xmlns:r="http://schemas.openxmlformats.org/officeDocument/2006/relationships" id="257" r:id="R431073251b1a4b7d"/>
    <p:sldId xmlns:r="http://schemas.openxmlformats.org/officeDocument/2006/relationships" id="258" r:id="R74490b25fb0e4fa7"/>
    <p:sldId xmlns:r="http://schemas.openxmlformats.org/officeDocument/2006/relationships" id="259" r:id="Rd7f03ed623564126"/>
    <p:sldId xmlns:r="http://schemas.openxmlformats.org/officeDocument/2006/relationships" id="260" r:id="R98ac1488046b4283"/>
    <p:sldId xmlns:r="http://schemas.openxmlformats.org/officeDocument/2006/relationships" id="261" r:id="Rf49b7315403d428e"/>
    <p:sldId xmlns:r="http://schemas.openxmlformats.org/officeDocument/2006/relationships" id="262" r:id="Rb5fb294b356b4850"/>
    <p:sldId xmlns:r="http://schemas.openxmlformats.org/officeDocument/2006/relationships" id="263" r:id="Rd2afad85a8814369"/>
    <p:sldId xmlns:r="http://schemas.openxmlformats.org/officeDocument/2006/relationships" id="264" r:id="R72788b611d7e406d"/>
    <p:sldId xmlns:r="http://schemas.openxmlformats.org/officeDocument/2006/relationships" id="265" r:id="R1aa53bd0502f4dcc"/>
    <p:sldId xmlns:r="http://schemas.openxmlformats.org/officeDocument/2006/relationships" id="266" r:id="Rec23decd2fe843db"/>
    <p:sldId xmlns:r="http://schemas.openxmlformats.org/officeDocument/2006/relationships" id="267" r:id="Raf21e137f6ee49f6"/>
    <p:sldId xmlns:r="http://schemas.openxmlformats.org/officeDocument/2006/relationships" id="268" r:id="R010cffe0f64b479f"/>
    <p:sldId xmlns:r="http://schemas.openxmlformats.org/officeDocument/2006/relationships" id="269" r:id="Rfe247007a9e1429b"/>
    <p:sldId xmlns:r="http://schemas.openxmlformats.org/officeDocument/2006/relationships" id="270" r:id="R03a52bfee66243fc"/>
    <p:sldId xmlns:r="http://schemas.openxmlformats.org/officeDocument/2006/relationships" id="271" r:id="Rc49c9c9c10f74133"/>
    <p:sldId xmlns:r="http://schemas.openxmlformats.org/officeDocument/2006/relationships" id="272" r:id="R18fe1d3c56fa4bc7"/>
    <p:sldId xmlns:r="http://schemas.openxmlformats.org/officeDocument/2006/relationships" id="273" r:id="R3a40399c99d147c5"/>
    <p:sldId xmlns:r="http://schemas.openxmlformats.org/officeDocument/2006/relationships" id="274" r:id="Re62785344fb8447b"/>
    <p:sldId xmlns:r="http://schemas.openxmlformats.org/officeDocument/2006/relationships" id="275" r:id="Re7724a2a4be54d93"/>
    <p:sldId xmlns:r="http://schemas.openxmlformats.org/officeDocument/2006/relationships" id="276" r:id="R6176916b98974743"/>
    <p:sldId xmlns:r="http://schemas.openxmlformats.org/officeDocument/2006/relationships" id="277" r:id="R83f3efd6f9e14c02"/>
    <p:sldId xmlns:r="http://schemas.openxmlformats.org/officeDocument/2006/relationships" id="278" r:id="R1835d1ab53294a0b"/>
    <p:sldId xmlns:r="http://schemas.openxmlformats.org/officeDocument/2006/relationships" id="279" r:id="R63268adeedea4a8e"/>
    <p:sldId xmlns:r="http://schemas.openxmlformats.org/officeDocument/2006/relationships" id="280" r:id="Rab32d82a9b4540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e0da76dde440ca" /><Relationship Type="http://schemas.openxmlformats.org/officeDocument/2006/relationships/slideMaster" Target="/ppt/slideMasters/slideMaster1.xml" Id="Rc74b81f0f32243fc" /><Relationship Type="http://schemas.openxmlformats.org/officeDocument/2006/relationships/notesMaster" Target="/ppt/notesMasters/notesMaster1.xml" Id="R9f8b80e867e64dce" /><Relationship Type="http://schemas.openxmlformats.org/officeDocument/2006/relationships/presProps" Target="/ppt/presProps.xml" Id="R1244b052139c46a7" /><Relationship Type="http://schemas.openxmlformats.org/officeDocument/2006/relationships/tableStyles" Target="/ppt/tableStyles.xml" Id="R371c8b0ff6494bdd" /><Relationship Type="http://schemas.openxmlformats.org/officeDocument/2006/relationships/slide" Target="/ppt/slides/slide1.xml" Id="R8baad3a761954941" /><Relationship Type="http://schemas.openxmlformats.org/officeDocument/2006/relationships/slide" Target="/ppt/slides/slide2.xml" Id="R431073251b1a4b7d" /><Relationship Type="http://schemas.openxmlformats.org/officeDocument/2006/relationships/slide" Target="/ppt/slides/slide3.xml" Id="R74490b25fb0e4fa7" /><Relationship Type="http://schemas.openxmlformats.org/officeDocument/2006/relationships/slide" Target="/ppt/slides/slide4.xml" Id="Rd7f03ed623564126" /><Relationship Type="http://schemas.openxmlformats.org/officeDocument/2006/relationships/slide" Target="/ppt/slides/slide5.xml" Id="R98ac1488046b4283" /><Relationship Type="http://schemas.openxmlformats.org/officeDocument/2006/relationships/slide" Target="/ppt/slides/slide6.xml" Id="Rf49b7315403d428e" /><Relationship Type="http://schemas.openxmlformats.org/officeDocument/2006/relationships/slide" Target="/ppt/slides/slide7.xml" Id="Rb5fb294b356b4850" /><Relationship Type="http://schemas.openxmlformats.org/officeDocument/2006/relationships/slide" Target="/ppt/slides/slide8.xml" Id="Rd2afad85a8814369" /><Relationship Type="http://schemas.openxmlformats.org/officeDocument/2006/relationships/slide" Target="/ppt/slides/slide9.xml" Id="R72788b611d7e406d" /><Relationship Type="http://schemas.openxmlformats.org/officeDocument/2006/relationships/slide" Target="/ppt/slides/slide10.xml" Id="R1aa53bd0502f4dcc" /><Relationship Type="http://schemas.openxmlformats.org/officeDocument/2006/relationships/slide" Target="/ppt/slides/slide11.xml" Id="Rec23decd2fe843db" /><Relationship Type="http://schemas.openxmlformats.org/officeDocument/2006/relationships/slide" Target="/ppt/slides/slide12.xml" Id="Raf21e137f6ee49f6" /><Relationship Type="http://schemas.openxmlformats.org/officeDocument/2006/relationships/slide" Target="/ppt/slides/slide13.xml" Id="R010cffe0f64b479f" /><Relationship Type="http://schemas.openxmlformats.org/officeDocument/2006/relationships/slide" Target="/ppt/slides/slide14.xml" Id="Rfe247007a9e1429b" /><Relationship Type="http://schemas.openxmlformats.org/officeDocument/2006/relationships/slide" Target="/ppt/slides/slide15.xml" Id="R03a52bfee66243fc" /><Relationship Type="http://schemas.openxmlformats.org/officeDocument/2006/relationships/slide" Target="/ppt/slides/slide16.xml" Id="Rc49c9c9c10f74133" /><Relationship Type="http://schemas.openxmlformats.org/officeDocument/2006/relationships/slide" Target="/ppt/slides/slide17.xml" Id="R18fe1d3c56fa4bc7" /><Relationship Type="http://schemas.openxmlformats.org/officeDocument/2006/relationships/slide" Target="/ppt/slides/slide18.xml" Id="R3a40399c99d147c5" /><Relationship Type="http://schemas.openxmlformats.org/officeDocument/2006/relationships/slide" Target="/ppt/slides/slide19.xml" Id="Re62785344fb8447b" /><Relationship Type="http://schemas.openxmlformats.org/officeDocument/2006/relationships/slide" Target="/ppt/slides/slide20.xml" Id="Re7724a2a4be54d93" /><Relationship Type="http://schemas.openxmlformats.org/officeDocument/2006/relationships/slide" Target="/ppt/slides/slide21.xml" Id="R6176916b98974743" /><Relationship Type="http://schemas.openxmlformats.org/officeDocument/2006/relationships/slide" Target="/ppt/slides/slide22.xml" Id="R83f3efd6f9e14c02" /><Relationship Type="http://schemas.openxmlformats.org/officeDocument/2006/relationships/slide" Target="/ppt/slides/slide23.xml" Id="R1835d1ab53294a0b" /><Relationship Type="http://schemas.openxmlformats.org/officeDocument/2006/relationships/slide" Target="/ppt/slides/slide24.xml" Id="R63268adeedea4a8e" /><Relationship Type="http://schemas.openxmlformats.org/officeDocument/2006/relationships/slide" Target="/ppt/slides/slide25.xml" Id="Rab32d82a9b4540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ad9edc58c246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cfd74dbb234b48" /><Relationship Type="http://schemas.openxmlformats.org/officeDocument/2006/relationships/notesMaster" Target="/ppt/notesMasters/notesMaster1.xml" Id="Rd3eb8a15ba4048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e3fbf8c9054ea7" /><Relationship Type="http://schemas.openxmlformats.org/officeDocument/2006/relationships/notesMaster" Target="/ppt/notesMasters/notesMaster1.xml" Id="R1ad282d0eae545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b977b899534b46" /><Relationship Type="http://schemas.openxmlformats.org/officeDocument/2006/relationships/notesMaster" Target="/ppt/notesMasters/notesMaster1.xml" Id="Rfb435b19360e4c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c24bac582a4554" /><Relationship Type="http://schemas.openxmlformats.org/officeDocument/2006/relationships/notesMaster" Target="/ppt/notesMasters/notesMaster1.xml" Id="R93addb2e5d4a49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66c595275f4dbc" /><Relationship Type="http://schemas.openxmlformats.org/officeDocument/2006/relationships/notesMaster" Target="/ppt/notesMasters/notesMaster1.xml" Id="Rbfb3eee7d53a40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84a390ec7141e0" /><Relationship Type="http://schemas.openxmlformats.org/officeDocument/2006/relationships/notesMaster" Target="/ppt/notesMasters/notesMaster1.xml" Id="R6656f9c59dc242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947e5ecfb649db" /><Relationship Type="http://schemas.openxmlformats.org/officeDocument/2006/relationships/notesMaster" Target="/ppt/notesMasters/notesMaster1.xml" Id="Rc7827766d1d645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43132461d64597" /><Relationship Type="http://schemas.openxmlformats.org/officeDocument/2006/relationships/notesMaster" Target="/ppt/notesMasters/notesMaster1.xml" Id="R91c33b143daa47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0deacc01844329" /><Relationship Type="http://schemas.openxmlformats.org/officeDocument/2006/relationships/notesMaster" Target="/ppt/notesMasters/notesMaster1.xml" Id="R35883281e53b45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66cc9778fd477c" /><Relationship Type="http://schemas.openxmlformats.org/officeDocument/2006/relationships/notesMaster" Target="/ppt/notesMasters/notesMaster1.xml" Id="R3e0b7862656f48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2c8cf21e164b5b" /><Relationship Type="http://schemas.openxmlformats.org/officeDocument/2006/relationships/notesMaster" Target="/ppt/notesMasters/notesMaster1.xml" Id="R920d95fa0d1b41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fae340949a4106" /><Relationship Type="http://schemas.openxmlformats.org/officeDocument/2006/relationships/notesMaster" Target="/ppt/notesMasters/notesMaster1.xml" Id="R0a72101aa9cf4b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63c63f62e14590" /><Relationship Type="http://schemas.openxmlformats.org/officeDocument/2006/relationships/notesMaster" Target="/ppt/notesMasters/notesMaster1.xml" Id="Rf2d9ea0da0d5442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8ff66b739964612" /><Relationship Type="http://schemas.openxmlformats.org/officeDocument/2006/relationships/notesMaster" Target="/ppt/notesMasters/notesMaster1.xml" Id="Rf7b60cce69ac4e2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b3fb3c4298f430d" /><Relationship Type="http://schemas.openxmlformats.org/officeDocument/2006/relationships/notesMaster" Target="/ppt/notesMasters/notesMaster1.xml" Id="Raabefe12418b483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c3f76d9c3cc410c" /><Relationship Type="http://schemas.openxmlformats.org/officeDocument/2006/relationships/notesMaster" Target="/ppt/notesMasters/notesMaster1.xml" Id="Ra0a3116bbd69412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bb803a944af4336" /><Relationship Type="http://schemas.openxmlformats.org/officeDocument/2006/relationships/notesMaster" Target="/ppt/notesMasters/notesMaster1.xml" Id="Re4e2806d863240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f197650257b4021" /><Relationship Type="http://schemas.openxmlformats.org/officeDocument/2006/relationships/notesMaster" Target="/ppt/notesMasters/notesMaster1.xml" Id="R92852542ac55497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f09c11c64b4a70" /><Relationship Type="http://schemas.openxmlformats.org/officeDocument/2006/relationships/notesMaster" Target="/ppt/notesMasters/notesMaster1.xml" Id="R19abe843f45e4f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dad565de9da465c" /><Relationship Type="http://schemas.openxmlformats.org/officeDocument/2006/relationships/notesMaster" Target="/ppt/notesMasters/notesMaster1.xml" Id="Re8d128e9decb4fd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f4d7cf47e5a4fca" /><Relationship Type="http://schemas.openxmlformats.org/officeDocument/2006/relationships/notesMaster" Target="/ppt/notesMasters/notesMaster1.xml" Id="R026a33b64d73439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d58f4837f34e9e" /><Relationship Type="http://schemas.openxmlformats.org/officeDocument/2006/relationships/notesMaster" Target="/ppt/notesMasters/notesMaster1.xml" Id="Rf024bfa7aecf4dc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6c60ff08e3d4b9f" /><Relationship Type="http://schemas.openxmlformats.org/officeDocument/2006/relationships/notesMaster" Target="/ppt/notesMasters/notesMaster1.xml" Id="Rf377b3145f6d461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e038d1458f34335" /><Relationship Type="http://schemas.openxmlformats.org/officeDocument/2006/relationships/notesMaster" Target="/ppt/notesMasters/notesMaster1.xml" Id="R9f467fdbb949401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96cd095e4174195" /><Relationship Type="http://schemas.openxmlformats.org/officeDocument/2006/relationships/notesMaster" Target="/ppt/notesMasters/notesMaster1.xml" Id="R3e4d8d2523ac40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2d185a6d541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01d0b546c64bbe" /><Relationship Type="http://schemas.openxmlformats.org/officeDocument/2006/relationships/slideLayout" Target="/ppt/slideLayouts/slideLayout1.xml" Id="Rbe52ded5edbf40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52ded5edbf40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be34010374b6c" /><Relationship Type="http://schemas.openxmlformats.org/officeDocument/2006/relationships/notesSlide" Target="/ppt/notesSlides/notesSlide1.xml" Id="R4ae204a530b241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04c737cbb47e8" /><Relationship Type="http://schemas.openxmlformats.org/officeDocument/2006/relationships/notesSlide" Target="/ppt/notesSlides/notesSlide2.xml" Id="R266b65c3551049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af99ce2a04306" /><Relationship Type="http://schemas.openxmlformats.org/officeDocument/2006/relationships/notesSlide" Target="/ppt/notesSlides/notesSlide3.xml" Id="R67875b484d664d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d353c41e0d4488" /><Relationship Type="http://schemas.openxmlformats.org/officeDocument/2006/relationships/notesSlide" Target="/ppt/notesSlides/notesSlide4.xml" Id="R5d3d9df59b9643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5eae320ab498e" /><Relationship Type="http://schemas.openxmlformats.org/officeDocument/2006/relationships/notesSlide" Target="/ppt/notesSlides/notesSlide5.xml" Id="R2cc0402711d143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f58c839cd483f" /><Relationship Type="http://schemas.openxmlformats.org/officeDocument/2006/relationships/notesSlide" Target="/ppt/notesSlides/notesSlide6.xml" Id="Rd642615617b445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bffad3c0146d6" /><Relationship Type="http://schemas.openxmlformats.org/officeDocument/2006/relationships/notesSlide" Target="/ppt/notesSlides/notesSlide7.xml" Id="R6ceb5fc73a0d40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74fc1d0024bde" /><Relationship Type="http://schemas.openxmlformats.org/officeDocument/2006/relationships/notesSlide" Target="/ppt/notesSlides/notesSlide8.xml" Id="R5b7655c3d4ac42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8541a16f042e9" /><Relationship Type="http://schemas.openxmlformats.org/officeDocument/2006/relationships/notesSlide" Target="/ppt/notesSlides/notesSlide9.xml" Id="R3ed73197091946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7172c8f164a22" /><Relationship Type="http://schemas.openxmlformats.org/officeDocument/2006/relationships/notesSlide" Target="/ppt/notesSlides/notesSlide10.xml" Id="R150f844e58fd45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802c6d1d0451e" /><Relationship Type="http://schemas.openxmlformats.org/officeDocument/2006/relationships/notesSlide" Target="/ppt/notesSlides/notesSlide11.xml" Id="Rb72fc4a7dbae40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c184712c14ff1" /><Relationship Type="http://schemas.openxmlformats.org/officeDocument/2006/relationships/notesSlide" Target="/ppt/notesSlides/notesSlide12.xml" Id="Ra59bdd09905349e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173a582eb46dd" /><Relationship Type="http://schemas.openxmlformats.org/officeDocument/2006/relationships/notesSlide" Target="/ppt/notesSlides/notesSlide13.xml" Id="R09808456233242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650ee2e20482e" /><Relationship Type="http://schemas.openxmlformats.org/officeDocument/2006/relationships/notesSlide" Target="/ppt/notesSlides/notesSlide14.xml" Id="R6b36f6c0b8ac4a6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0560b2b904855" /><Relationship Type="http://schemas.openxmlformats.org/officeDocument/2006/relationships/notesSlide" Target="/ppt/notesSlides/notesSlide15.xml" Id="Re970d39451cb450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9deca6cd44ebe" /><Relationship Type="http://schemas.openxmlformats.org/officeDocument/2006/relationships/notesSlide" Target="/ppt/notesSlides/notesSlide16.xml" Id="R886f0ee8d31f4ae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249f5c6ae3449b" /><Relationship Type="http://schemas.openxmlformats.org/officeDocument/2006/relationships/notesSlide" Target="/ppt/notesSlides/notesSlide17.xml" Id="R180b92c3840741e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47439d4d946ca" /><Relationship Type="http://schemas.openxmlformats.org/officeDocument/2006/relationships/notesSlide" Target="/ppt/notesSlides/notesSlide18.xml" Id="R9d6e8b868bcd40b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31c800e5844a2" /><Relationship Type="http://schemas.openxmlformats.org/officeDocument/2006/relationships/notesSlide" Target="/ppt/notesSlides/notesSlide19.xml" Id="Rf75d654bac2f416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187c76d0b4517" /><Relationship Type="http://schemas.openxmlformats.org/officeDocument/2006/relationships/notesSlide" Target="/ppt/notesSlides/notesSlide20.xml" Id="R53db755a4b7341b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711d974594bd1" /><Relationship Type="http://schemas.openxmlformats.org/officeDocument/2006/relationships/notesSlide" Target="/ppt/notesSlides/notesSlide21.xml" Id="Rd06958e12f0a498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204f08d6b485f" /><Relationship Type="http://schemas.openxmlformats.org/officeDocument/2006/relationships/notesSlide" Target="/ppt/notesSlides/notesSlide22.xml" Id="R0b61a3e0901a4a1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dd4cae00a4c84" /><Relationship Type="http://schemas.openxmlformats.org/officeDocument/2006/relationships/notesSlide" Target="/ppt/notesSlides/notesSlide23.xml" Id="Rc793d2ad02c5478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d03c84d364523" /><Relationship Type="http://schemas.openxmlformats.org/officeDocument/2006/relationships/notesSlide" Target="/ppt/notesSlides/notesSlide24.xml" Id="R66add9cb6a0a45c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e1eb24f374d7b" /><Relationship Type="http://schemas.openxmlformats.org/officeDocument/2006/relationships/notesSlide" Target="/ppt/notesSlides/notesSlide25.xml" Id="Ra4dfd293c9b64ec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">
            <a:extLst xmlns:a="http://schemas.openxmlformats.org/drawingml/2006/main">
              <a:ext uri="{FF2B5EF4-FFF2-40B4-BE49-F238E27FC236}">
                <a16:creationId xmlns:a16="http://schemas.microsoft.com/office/drawing/2014/main" id="{819A2F08-5B46-4448-86D1-88386DD4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0"/>
            <a:ext cx="23336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ot">
            <a:extLst xmlns:a="http://schemas.openxmlformats.org/drawingml/2006/main">
              <a:ext uri="{FF2B5EF4-FFF2-40B4-BE49-F238E27FC236}">
                <a16:creationId xmlns:a16="http://schemas.microsoft.com/office/drawing/2014/main" id="{4833A784-3619-4D86-AD9F-E81EF6D9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7625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C7828C2E-345D-473E-86E7-8F7EE07D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B942"/>
                </a:solidFill>
              </a:defRPr>
            </a:pPr>
            <a:r>
              <a:rPr sz="1125" b="1">
                <a:solidFill>
                  <a:srgbClr val="F5B942"/>
                </a:solidFill>
              </a:rPr>
              <a:t>BENGKEL MPE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A6E0A26-19F2-4F5A-A11D-3353F7F2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8001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Transformasi Digital dan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Pemerkasaan Operasi Pintar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Makmal Penyelidikan Elektrik</a:t>
            </a:r>
          </a:p>
        </p:txBody>
      </p:sp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12924197-33F9-49A6-A92B-C799CBDC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B942"/>
                </a:solidFill>
              </a:defRPr>
            </a:pPr>
            <a:r>
              <a:rPr sz="1650" b="1">
                <a:solidFill>
                  <a:srgbClr val="F5B942"/>
                </a:solidFill>
              </a:rPr>
              <a:t>Prof. Madya Dr. Mohd Murtadha Mohamad</a:t>
            </a:r>
          </a:p>
        </p:txBody>
      </p:sp>
      <p:sp>
        <p:nvSpPr>
          <p:cNvPr id="6" name="date">
            <a:extLst xmlns:a="http://schemas.openxmlformats.org/drawingml/2006/main">
              <a:ext uri="{FF2B5EF4-FFF2-40B4-BE49-F238E27FC236}">
                <a16:creationId xmlns:a16="http://schemas.microsoft.com/office/drawing/2014/main" id="{7691F33E-41DB-49BF-A370-4B41B096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DE8E8"/>
                </a:solidFill>
              </a:defRPr>
            </a:pPr>
            <a:r>
              <a:rPr sz="1350" b="0">
                <a:solidFill>
                  <a:srgbClr val="DDE8E8"/>
                </a:solidFill>
              </a:rPr>
              <a:t>28–29 Julai 2026  ·  Dua hari  ·  Lima modul</a:t>
            </a:r>
          </a:p>
        </p:txBody>
      </p:sp>
    </p:spTree>
    <p:extLst>
      <p:ext uri="{BB962C8B-B14F-4D97-AF65-F5344CB8AC3E}">
        <p14:creationId xmlns:p14="http://schemas.microsoft.com/office/powerpoint/2010/main" val="17148290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02524696-6DC4-4017-AF4D-1125ECA4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HALA TUJU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53F1B26E-6BFD-4F2B-A468-A4E183D6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28–29 Julai 2026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8D08EF7F-C791-43CB-BC3E-2379F459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49D4D14-08D8-4F82-BD3C-972251A7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Dua hari untuk menghasilkan lima hasil kerja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8E024FFF-B8AF-4D5E-8AB0-1B78DE15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0B0E58D6-E8BD-48F5-923B-4F6E15B1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Prompt produktiviti dan draf dokumen rasmi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E376AE71-38C9-420B-8E1C-392B598C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1693D8CE-C7C0-4A44-BF05-8EF4271C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Analisis data, daftar rekod dan audit kualiti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01E28D55-CDF6-4F00-86F3-9517869D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83DFE039-DD5D-4C26-A063-3059540C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Prototaip aliran kerja, ringkasan projek dan pembentangan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B6ABB9FB-CBE0-4D52-803E-E63C100A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23385C46-9378-4E5F-B53D-487E7A19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Setiap modul berakhir dengan hasil yang boleh disemak.</a:t>
            </a:r>
          </a:p>
        </p:txBody>
      </p:sp>
    </p:spTree>
    <p:extLst>
      <p:ext uri="{BB962C8B-B14F-4D97-AF65-F5344CB8AC3E}">
        <p14:creationId xmlns:p14="http://schemas.microsoft.com/office/powerpoint/2010/main" val="7187262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CCD81A44-DCF1-4793-A40B-74F6145A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JADUAL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065CFD84-FDB7-4B22-93B7-BD60EA3B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Dua hari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0A0BF2AC-D183-4F9E-B1EE-4D7F3179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727EAB-06D4-42AB-B94E-06C84F7E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Perjalanan bengkel bergerak daripada tugas kepada tindakan</a:t>
            </a:r>
          </a:p>
        </p:txBody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B63D2B49-EDAA-4BD2-8F28-56725F08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num-0">
            <a:extLst xmlns:a="http://schemas.openxmlformats.org/drawingml/2006/main">
              <a:ext uri="{FF2B5EF4-FFF2-40B4-BE49-F238E27FC236}">
                <a16:creationId xmlns:a16="http://schemas.microsoft.com/office/drawing/2014/main" id="{463CD356-92BD-4892-B6B8-9FA1ACF4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B9B4BF91-BEE0-4275-8640-D1FC91C0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Hari 1 pagi</a:t>
            </a:r>
          </a:p>
        </p:txBody>
      </p:sp>
      <p:sp>
        <p:nvSpPr>
          <p:cNvPr id="8" name="step-body-0">
            <a:extLst xmlns:a="http://schemas.openxmlformats.org/drawingml/2006/main">
              <a:ext uri="{FF2B5EF4-FFF2-40B4-BE49-F238E27FC236}">
                <a16:creationId xmlns:a16="http://schemas.microsoft.com/office/drawing/2014/main" id="{51E8096A-966A-4AD2-8323-20B614EA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Aplikasi pintar dan dokumen rasmi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16632966-0322-4751-8A9E-146D4310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1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-1">
            <a:extLst xmlns:a="http://schemas.openxmlformats.org/drawingml/2006/main">
              <a:ext uri="{FF2B5EF4-FFF2-40B4-BE49-F238E27FC236}">
                <a16:creationId xmlns:a16="http://schemas.microsoft.com/office/drawing/2014/main" id="{814F85BD-EA94-48E1-B8D1-C2EDFB2D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2669441F-9B1E-4CA1-9780-530BD984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Hari 1 petang</a:t>
            </a:r>
          </a:p>
        </p:txBody>
      </p:sp>
      <p:sp>
        <p:nvSpPr>
          <p:cNvPr id="12" name="step-body-1">
            <a:extLst xmlns:a="http://schemas.openxmlformats.org/drawingml/2006/main">
              <a:ext uri="{FF2B5EF4-FFF2-40B4-BE49-F238E27FC236}">
                <a16:creationId xmlns:a16="http://schemas.microsoft.com/office/drawing/2014/main" id="{D9FEEF18-2A1E-48C5-A2A5-83BDAAA6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Data dan rekod teknikal</a:t>
            </a:r>
          </a:p>
        </p:txBody>
      </p:sp>
      <p:sp>
        <p:nvSpPr>
          <p:cNvPr id="13" name="step-2">
            <a:extLst xmlns:a="http://schemas.openxmlformats.org/drawingml/2006/main">
              <a:ext uri="{FF2B5EF4-FFF2-40B4-BE49-F238E27FC236}">
                <a16:creationId xmlns:a16="http://schemas.microsoft.com/office/drawing/2014/main" id="{0A2351C8-C45F-4A2E-AD71-CE8F6605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-2">
            <a:extLst xmlns:a="http://schemas.openxmlformats.org/drawingml/2006/main">
              <a:ext uri="{FF2B5EF4-FFF2-40B4-BE49-F238E27FC236}">
                <a16:creationId xmlns:a16="http://schemas.microsoft.com/office/drawing/2014/main" id="{CBC58093-38B7-4D26-90E5-5BD895D8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5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F62F8500-CDEC-4E7E-9F38-496E6D0A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Hari 2 pagi</a:t>
            </a:r>
          </a:p>
        </p:txBody>
      </p:sp>
      <p:sp>
        <p:nvSpPr>
          <p:cNvPr id="16" name="step-body-2">
            <a:extLst xmlns:a="http://schemas.openxmlformats.org/drawingml/2006/main">
              <a:ext uri="{FF2B5EF4-FFF2-40B4-BE49-F238E27FC236}">
                <a16:creationId xmlns:a16="http://schemas.microsoft.com/office/drawing/2014/main" id="{03F60C8B-E766-4DDC-8EF8-BA485493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Kualiti data dan aliran kerja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86EBF61E-8058-4C5C-907F-0F0626DB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ep-num-3">
            <a:extLst xmlns:a="http://schemas.openxmlformats.org/drawingml/2006/main">
              <a:ext uri="{FF2B5EF4-FFF2-40B4-BE49-F238E27FC236}">
                <a16:creationId xmlns:a16="http://schemas.microsoft.com/office/drawing/2014/main" id="{027E473E-B559-48A0-8482-81521424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6CEACDD5-7943-4BD8-A7FF-B3A8A17F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Hari 2 petang</a:t>
            </a:r>
          </a:p>
        </p:txBody>
      </p:sp>
      <p:sp>
        <p:nvSpPr>
          <p:cNvPr id="20" name="step-body-3">
            <a:extLst xmlns:a="http://schemas.openxmlformats.org/drawingml/2006/main">
              <a:ext uri="{FF2B5EF4-FFF2-40B4-BE49-F238E27FC236}">
                <a16:creationId xmlns:a16="http://schemas.microsoft.com/office/drawing/2014/main" id="{7F4BB567-78A6-4942-A109-76F39C0F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8E8"/>
                </a:solidFill>
              </a:defRPr>
            </a:pPr>
            <a:r>
              <a:rPr sz="1200" b="0">
                <a:solidFill>
                  <a:srgbClr val="DDE8E8"/>
                </a:solidFill>
              </a:rPr>
              <a:t>Dokumen projek dan pembentangan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6F10272D-6AAA-441C-A7FB-319F9C11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Terangkan → tunjuk → cuba → semak bukti → tambah baik</a:t>
            </a:r>
          </a:p>
        </p:txBody>
      </p:sp>
    </p:spTree>
    <p:extLst>
      <p:ext uri="{BB962C8B-B14F-4D97-AF65-F5344CB8AC3E}">
        <p14:creationId xmlns:p14="http://schemas.microsoft.com/office/powerpoint/2010/main" val="10516858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ay">
            <a:extLst xmlns:a="http://schemas.openxmlformats.org/drawingml/2006/main">
              <a:ext uri="{FF2B5EF4-FFF2-40B4-BE49-F238E27FC236}">
                <a16:creationId xmlns:a16="http://schemas.microsoft.com/office/drawing/2014/main" id="{06100F18-BDDA-4402-A0D7-5A7F519F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</a:defRPr>
            </a:pPr>
            <a:r>
              <a:rPr sz="1200" b="1">
                <a:solidFill>
                  <a:srgbClr val="F5B942"/>
                </a:solidFill>
              </a:rPr>
              <a:t>HARI PERTAMA</a:t>
            </a:r>
          </a:p>
        </p:txBody>
      </p:sp>
      <p:sp>
        <p:nvSpPr>
          <p:cNvPr id="2" name="module-number">
            <a:extLst xmlns:a="http://schemas.openxmlformats.org/drawingml/2006/main">
              <a:ext uri="{FF2B5EF4-FFF2-40B4-BE49-F238E27FC236}">
                <a16:creationId xmlns:a16="http://schemas.microsoft.com/office/drawing/2014/main" id="{AE25E183-FA38-460B-90AA-77BB4111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71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5B942"/>
                </a:solidFill>
              </a:defRPr>
            </a:pPr>
            <a:r>
              <a:rPr sz="6450" b="1">
                <a:solidFill>
                  <a:srgbClr val="F5B942"/>
                </a:solidFill>
              </a:rPr>
              <a:t>01</a:t>
            </a:r>
          </a:p>
        </p:txBody>
      </p:sp>
      <p:sp>
        <p:nvSpPr>
          <p:cNvPr id="3" name="module-title">
            <a:extLst xmlns:a="http://schemas.openxmlformats.org/drawingml/2006/main">
              <a:ext uri="{FF2B5EF4-FFF2-40B4-BE49-F238E27FC236}">
                <a16:creationId xmlns:a16="http://schemas.microsoft.com/office/drawing/2014/main" id="{6BF499B9-C035-409F-9DF9-25C41F40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62050"/>
            <a:ext cx="8286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Aplikasi pintar untuk produktiviti MPE</a:t>
            </a:r>
          </a:p>
        </p:txBody>
      </p:sp>
      <p:sp>
        <p:nvSpPr>
          <p:cNvPr id="4" name="module-subtitle">
            <a:extLst xmlns:a="http://schemas.openxmlformats.org/drawingml/2006/main">
              <a:ext uri="{FF2B5EF4-FFF2-40B4-BE49-F238E27FC236}">
                <a16:creationId xmlns:a16="http://schemas.microsoft.com/office/drawing/2014/main" id="{A56BFF87-8980-437D-BB06-A6105652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4795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8E8"/>
                </a:solidFill>
              </a:defRPr>
            </a:pPr>
            <a:r>
              <a:rPr sz="1800" b="0">
                <a:solidFill>
                  <a:srgbClr val="DDE8E8"/>
                </a:solidFill>
              </a:rPr>
              <a:t>Pilih alat berdasarkan masalah, risiko dan bukti—bukan trend.</a:t>
            </a:r>
          </a:p>
        </p:txBody>
      </p:sp>
      <p:sp>
        <p:nvSpPr>
          <p:cNvPr id="5" name="time-band">
            <a:extLst xmlns:a="http://schemas.openxmlformats.org/drawingml/2006/main">
              <a:ext uri="{FF2B5EF4-FFF2-40B4-BE49-F238E27FC236}">
                <a16:creationId xmlns:a16="http://schemas.microsoft.com/office/drawing/2014/main" id="{65E97600-FC30-45E3-8E1E-943127A3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F0111DC0-3B7E-4AA4-A274-F5785AD4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81625"/>
            <a:ext cx="1036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28 Julai · 9.00–10.30 pagi</a:t>
            </a:r>
          </a:p>
        </p:txBody>
      </p:sp>
    </p:spTree>
    <p:extLst>
      <p:ext uri="{BB962C8B-B14F-4D97-AF65-F5344CB8AC3E}">
        <p14:creationId xmlns:p14="http://schemas.microsoft.com/office/powerpoint/2010/main" val="14019813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6F61BBE1-ADF6-4927-986D-9C04BE4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1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362697EA-18A5-4960-9125-E1F007D3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1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A2CB1FB4-724A-4956-99A8-1C7F8917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183A23D-7170-4152-8780-C7AB8444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Empat keupayaan menyelesaikan masalah yang berbeza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A3F63FF8-C8C0-4CCD-9237-C657C9A6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8C74CF34-FC20-4099-990A-658C1804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Carian menemukan sumber; AI generatif membentuk draf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2C698CF4-B923-4E51-A78E-0F716312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D9842B3B-AEEE-40CB-91B6-942EBFE7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Pembantu menyimpan arahan; automasi menggerakkan langkah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B6B1484D-1C98-4FC4-8876-617960A4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4B0A7744-640A-4691-917B-A3DD01A0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Semakin banyak akses dan tindakan, semakin kuat kawalannya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54254C2F-EDD5-48F0-BB6F-9B2CA7D6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27288464-F7DB-4A61-9CAF-1721AB5C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Gunakan pendekatan paling ringkas yang mencukupi.</a:t>
            </a:r>
          </a:p>
        </p:txBody>
      </p:sp>
    </p:spTree>
    <p:extLst>
      <p:ext uri="{BB962C8B-B14F-4D97-AF65-F5344CB8AC3E}">
        <p14:creationId xmlns:p14="http://schemas.microsoft.com/office/powerpoint/2010/main" val="21042685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A48850F2-459F-4543-958E-08FD8DF4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1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A20C764E-9100-4EC0-96A3-41D3BD54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1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5733A642-DC43-4435-85A6-66F65F98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A5D0F94-B9C8-43B2-B98A-23B25BAF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Prompt yang baik menjadikan tugas boleh diuji</a:t>
            </a:r>
          </a:p>
        </p:txBody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578522BC-15A3-4A8A-9001-D7EEA881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num-0">
            <a:extLst xmlns:a="http://schemas.openxmlformats.org/drawingml/2006/main">
              <a:ext uri="{FF2B5EF4-FFF2-40B4-BE49-F238E27FC236}">
                <a16:creationId xmlns:a16="http://schemas.microsoft.com/office/drawing/2014/main" id="{9BC98A8A-A04A-4865-B3F9-D30A314F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A500BB71-E46B-4FCF-8512-25B13435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Pengguna</a:t>
            </a:r>
          </a:p>
        </p:txBody>
      </p:sp>
      <p:sp>
        <p:nvSpPr>
          <p:cNvPr id="8" name="step-body-0">
            <a:extLst xmlns:a="http://schemas.openxmlformats.org/drawingml/2006/main">
              <a:ext uri="{FF2B5EF4-FFF2-40B4-BE49-F238E27FC236}">
                <a16:creationId xmlns:a16="http://schemas.microsoft.com/office/drawing/2014/main" id="{A0C7FF5C-12A0-44A3-B15B-008FC06F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Siapa membuat kerja?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E9B11621-9CB4-4F62-B165-B3FBFC4F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1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-1">
            <a:extLst xmlns:a="http://schemas.openxmlformats.org/drawingml/2006/main">
              <a:ext uri="{FF2B5EF4-FFF2-40B4-BE49-F238E27FC236}">
                <a16:creationId xmlns:a16="http://schemas.microsoft.com/office/drawing/2014/main" id="{6538F4D5-D9C8-48F6-911E-30592127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AC6B2470-C6C6-440C-BE56-0553D73D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Matlamat</a:t>
            </a:r>
          </a:p>
        </p:txBody>
      </p:sp>
      <p:sp>
        <p:nvSpPr>
          <p:cNvPr id="12" name="step-body-1">
            <a:extLst xmlns:a="http://schemas.openxmlformats.org/drawingml/2006/main">
              <a:ext uri="{FF2B5EF4-FFF2-40B4-BE49-F238E27FC236}">
                <a16:creationId xmlns:a16="http://schemas.microsoft.com/office/drawing/2014/main" id="{0060DD63-2969-4D06-A6FD-BB01A5DE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Apakah hasil yang boleh dilihat?</a:t>
            </a:r>
          </a:p>
        </p:txBody>
      </p:sp>
      <p:sp>
        <p:nvSpPr>
          <p:cNvPr id="13" name="step-2">
            <a:extLst xmlns:a="http://schemas.openxmlformats.org/drawingml/2006/main">
              <a:ext uri="{FF2B5EF4-FFF2-40B4-BE49-F238E27FC236}">
                <a16:creationId xmlns:a16="http://schemas.microsoft.com/office/drawing/2014/main" id="{FAD08CC8-DC15-43CC-924F-BD0EAE48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-2">
            <a:extLst xmlns:a="http://schemas.openxmlformats.org/drawingml/2006/main">
              <a:ext uri="{FF2B5EF4-FFF2-40B4-BE49-F238E27FC236}">
                <a16:creationId xmlns:a16="http://schemas.microsoft.com/office/drawing/2014/main" id="{41FD6C63-9D23-4D0B-A1ED-7AC62BB4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5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31E34DD4-77A3-4CA4-900D-7C4CF415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Batas</a:t>
            </a:r>
          </a:p>
        </p:txBody>
      </p:sp>
      <p:sp>
        <p:nvSpPr>
          <p:cNvPr id="16" name="step-body-2">
            <a:extLst xmlns:a="http://schemas.openxmlformats.org/drawingml/2006/main">
              <a:ext uri="{FF2B5EF4-FFF2-40B4-BE49-F238E27FC236}">
                <a16:creationId xmlns:a16="http://schemas.microsoft.com/office/drawing/2014/main" id="{50CBC8ED-BB36-4ACE-AECE-29478B8C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Apakah yang dilarang?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551871F9-C09E-415D-9ED9-B167CF31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ep-num-3">
            <a:extLst xmlns:a="http://schemas.openxmlformats.org/drawingml/2006/main">
              <a:ext uri="{FF2B5EF4-FFF2-40B4-BE49-F238E27FC236}">
                <a16:creationId xmlns:a16="http://schemas.microsoft.com/office/drawing/2014/main" id="{F270FD9F-59D0-4F72-93CA-EAE0B918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0FE2956E-8CE6-460B-85CA-CEC3EEA6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Semakan</a:t>
            </a:r>
          </a:p>
        </p:txBody>
      </p:sp>
      <p:sp>
        <p:nvSpPr>
          <p:cNvPr id="20" name="step-body-3">
            <a:extLst xmlns:a="http://schemas.openxmlformats.org/drawingml/2006/main">
              <a:ext uri="{FF2B5EF4-FFF2-40B4-BE49-F238E27FC236}">
                <a16:creationId xmlns:a16="http://schemas.microsoft.com/office/drawing/2014/main" id="{95A4C9F4-04C1-4B94-924F-68D8C1DD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8E8"/>
                </a:solidFill>
              </a:defRPr>
            </a:pPr>
            <a:r>
              <a:rPr sz="1200" b="0">
                <a:solidFill>
                  <a:srgbClr val="DDE8E8"/>
                </a:solidFill>
              </a:rPr>
              <a:t>Siapa mengesahkan hasil?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2106B22C-C2F6-40EA-8837-AA1F0FCB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Aktiviti: bina satu prompt, kemudian uji kes biasa dan maklumat hilang.</a:t>
            </a:r>
          </a:p>
        </p:txBody>
      </p:sp>
    </p:spTree>
    <p:extLst>
      <p:ext uri="{BB962C8B-B14F-4D97-AF65-F5344CB8AC3E}">
        <p14:creationId xmlns:p14="http://schemas.microsoft.com/office/powerpoint/2010/main" val="2038843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ay">
            <a:extLst xmlns:a="http://schemas.openxmlformats.org/drawingml/2006/main">
              <a:ext uri="{FF2B5EF4-FFF2-40B4-BE49-F238E27FC236}">
                <a16:creationId xmlns:a16="http://schemas.microsoft.com/office/drawing/2014/main" id="{75B35753-C958-48B9-B14A-B6310A91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</a:defRPr>
            </a:pPr>
            <a:r>
              <a:rPr sz="1200" b="1">
                <a:solidFill>
                  <a:srgbClr val="F5B942"/>
                </a:solidFill>
              </a:rPr>
              <a:t>HARI PERTAMA</a:t>
            </a:r>
          </a:p>
        </p:txBody>
      </p:sp>
      <p:sp>
        <p:nvSpPr>
          <p:cNvPr id="2" name="module-number">
            <a:extLst xmlns:a="http://schemas.openxmlformats.org/drawingml/2006/main">
              <a:ext uri="{FF2B5EF4-FFF2-40B4-BE49-F238E27FC236}">
                <a16:creationId xmlns:a16="http://schemas.microsoft.com/office/drawing/2014/main" id="{5A5C9900-1959-47F7-BE16-D50B34B8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71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5B942"/>
                </a:solidFill>
              </a:defRPr>
            </a:pPr>
            <a:r>
              <a:rPr sz="6450" b="1">
                <a:solidFill>
                  <a:srgbClr val="F5B942"/>
                </a:solidFill>
              </a:rPr>
              <a:t>02</a:t>
            </a:r>
          </a:p>
        </p:txBody>
      </p:sp>
      <p:sp>
        <p:nvSpPr>
          <p:cNvPr id="3" name="module-title">
            <a:extLst xmlns:a="http://schemas.openxmlformats.org/drawingml/2006/main">
              <a:ext uri="{FF2B5EF4-FFF2-40B4-BE49-F238E27FC236}">
                <a16:creationId xmlns:a16="http://schemas.microsoft.com/office/drawing/2014/main" id="{689FD8CC-F7B2-4240-B9F6-0066F23D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62050"/>
            <a:ext cx="8286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Automasi penyediaan dokumen rasmi</a:t>
            </a:r>
          </a:p>
        </p:txBody>
      </p:sp>
      <p:sp>
        <p:nvSpPr>
          <p:cNvPr id="4" name="module-subtitle">
            <a:extLst xmlns:a="http://schemas.openxmlformats.org/drawingml/2006/main">
              <a:ext uri="{FF2B5EF4-FFF2-40B4-BE49-F238E27FC236}">
                <a16:creationId xmlns:a16="http://schemas.microsoft.com/office/drawing/2014/main" id="{B0DD7D24-8911-41D9-AF06-5A622155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4795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8E8"/>
                </a:solidFill>
              </a:defRPr>
            </a:pPr>
            <a:r>
              <a:rPr sz="1800" b="0">
                <a:solidFill>
                  <a:srgbClr val="DDE8E8"/>
                </a:solidFill>
              </a:rPr>
              <a:t>AI boleh membantu draf; kuasa, fakta dan kelulusan kekal pada manusia.</a:t>
            </a:r>
          </a:p>
        </p:txBody>
      </p:sp>
      <p:sp>
        <p:nvSpPr>
          <p:cNvPr id="5" name="time-band">
            <a:extLst xmlns:a="http://schemas.openxmlformats.org/drawingml/2006/main">
              <a:ext uri="{FF2B5EF4-FFF2-40B4-BE49-F238E27FC236}">
                <a16:creationId xmlns:a16="http://schemas.microsoft.com/office/drawing/2014/main" id="{06DF4BAE-40E3-4560-9CDE-D7D05306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9E576598-269B-4914-8189-238FBAD6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81625"/>
            <a:ext cx="1036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28 Julai · 11.00 pagi–1.00 petang</a:t>
            </a:r>
          </a:p>
        </p:txBody>
      </p:sp>
    </p:spTree>
    <p:extLst>
      <p:ext uri="{BB962C8B-B14F-4D97-AF65-F5344CB8AC3E}">
        <p14:creationId xmlns:p14="http://schemas.microsoft.com/office/powerpoint/2010/main" val="9550759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06F76BE2-5572-477E-82BD-F1FBC41B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2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5DEEC9EF-C266-4BBE-B8C8-C67E00B5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1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9BB0FB02-3D52-4B85-A858-63665A4A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B7ECA2B-805C-4B39-AC9C-CCDB517F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Dokumen rasmi bermula dengan fakta yang diluluskan</a:t>
            </a:r>
          </a:p>
        </p:txBody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FA6E0732-AE5D-4FCE-93B6-70CDE2F8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num-0">
            <a:extLst xmlns:a="http://schemas.openxmlformats.org/drawingml/2006/main">
              <a:ext uri="{FF2B5EF4-FFF2-40B4-BE49-F238E27FC236}">
                <a16:creationId xmlns:a16="http://schemas.microsoft.com/office/drawing/2014/main" id="{3F034767-1434-4B09-B93F-7B897F19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885C2FB8-8C03-4468-92F2-BA90A6F3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Kumpul</a:t>
            </a:r>
          </a:p>
        </p:txBody>
      </p:sp>
      <p:sp>
        <p:nvSpPr>
          <p:cNvPr id="8" name="step-body-0">
            <a:extLst xmlns:a="http://schemas.openxmlformats.org/drawingml/2006/main">
              <a:ext uri="{FF2B5EF4-FFF2-40B4-BE49-F238E27FC236}">
                <a16:creationId xmlns:a16="http://schemas.microsoft.com/office/drawing/2014/main" id="{5256B3D1-40CE-4A1A-B759-67ED8999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Tujuan, penerima, fakta, tindakan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3C40273F-762D-4AE8-BC11-A476B03A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1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-1">
            <a:extLst xmlns:a="http://schemas.openxmlformats.org/drawingml/2006/main">
              <a:ext uri="{FF2B5EF4-FFF2-40B4-BE49-F238E27FC236}">
                <a16:creationId xmlns:a16="http://schemas.microsoft.com/office/drawing/2014/main" id="{ECD4B497-3D6A-4396-AD83-40F5CE5B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FF039692-2989-434B-BE5F-70AE0CAF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Struktur</a:t>
            </a:r>
          </a:p>
        </p:txBody>
      </p:sp>
      <p:sp>
        <p:nvSpPr>
          <p:cNvPr id="12" name="step-body-1">
            <a:extLst xmlns:a="http://schemas.openxmlformats.org/drawingml/2006/main">
              <a:ext uri="{FF2B5EF4-FFF2-40B4-BE49-F238E27FC236}">
                <a16:creationId xmlns:a16="http://schemas.microsoft.com/office/drawing/2014/main" id="{81E1B8BD-10D2-44A8-88A7-3BE7EF43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Pilih templat dan bahagian wajib</a:t>
            </a:r>
          </a:p>
        </p:txBody>
      </p:sp>
      <p:sp>
        <p:nvSpPr>
          <p:cNvPr id="13" name="step-2">
            <a:extLst xmlns:a="http://schemas.openxmlformats.org/drawingml/2006/main">
              <a:ext uri="{FF2B5EF4-FFF2-40B4-BE49-F238E27FC236}">
                <a16:creationId xmlns:a16="http://schemas.microsoft.com/office/drawing/2014/main" id="{B7A1F69D-A9E0-4A02-8CDC-1FB02801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-2">
            <a:extLst xmlns:a="http://schemas.openxmlformats.org/drawingml/2006/main">
              <a:ext uri="{FF2B5EF4-FFF2-40B4-BE49-F238E27FC236}">
                <a16:creationId xmlns:a16="http://schemas.microsoft.com/office/drawing/2014/main" id="{4643AA1C-541A-4187-A738-F38115C2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5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076E15DA-F6EC-4476-B1EA-D7094230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Draf</a:t>
            </a:r>
          </a:p>
        </p:txBody>
      </p:sp>
      <p:sp>
        <p:nvSpPr>
          <p:cNvPr id="16" name="step-body-2">
            <a:extLst xmlns:a="http://schemas.openxmlformats.org/drawingml/2006/main">
              <a:ext uri="{FF2B5EF4-FFF2-40B4-BE49-F238E27FC236}">
                <a16:creationId xmlns:a16="http://schemas.microsoft.com/office/drawing/2014/main" id="{EF710115-5C2F-4769-9B63-DCE29AAF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Gunakan Word/Docs dan AI secara terkawal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E75930C5-A603-4586-A7FF-B06D205B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ep-num-3">
            <a:extLst xmlns:a="http://schemas.openxmlformats.org/drawingml/2006/main">
              <a:ext uri="{FF2B5EF4-FFF2-40B4-BE49-F238E27FC236}">
                <a16:creationId xmlns:a16="http://schemas.microsoft.com/office/drawing/2014/main" id="{B3809F0B-94C0-4A6B-8E4B-FFB86E2D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2CB488AC-A8E1-49A3-BA21-A3539770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Lulus</a:t>
            </a:r>
          </a:p>
        </p:txBody>
      </p:sp>
      <p:sp>
        <p:nvSpPr>
          <p:cNvPr id="20" name="step-body-3">
            <a:extLst xmlns:a="http://schemas.openxmlformats.org/drawingml/2006/main">
              <a:ext uri="{FF2B5EF4-FFF2-40B4-BE49-F238E27FC236}">
                <a16:creationId xmlns:a16="http://schemas.microsoft.com/office/drawing/2014/main" id="{C622CDF5-5B98-430F-8C18-61B96E5B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8E8"/>
                </a:solidFill>
              </a:defRPr>
            </a:pPr>
            <a:r>
              <a:rPr sz="1200" b="0">
                <a:solidFill>
                  <a:srgbClr val="DDE8E8"/>
                </a:solidFill>
              </a:rPr>
              <a:t>Semak fakta, format, kuasa dan lampiran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F8CE836B-67F6-4F2D-AD26-A7E37072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Jangan cipta nombor rujukan, dasar, tarikh atau pihak berkuasa.</a:t>
            </a:r>
          </a:p>
        </p:txBody>
      </p:sp>
    </p:spTree>
    <p:extLst>
      <p:ext uri="{BB962C8B-B14F-4D97-AF65-F5344CB8AC3E}">
        <p14:creationId xmlns:p14="http://schemas.microsoft.com/office/powerpoint/2010/main" val="16713967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88326B46-02D6-41B2-9AE2-96CB9886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2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2944554D-AC0C-4E94-BADD-DAD69F63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1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09548511-2515-4CD9-920D-9221F4D2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F123367-0B27-4035-BD39-66EF0E6B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Senarai semak mengubah draf menjadi bahan untuk kelulusan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10BE7626-15AD-46DE-8E60-77422B03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552F31B9-7262-4AA9-A4F8-818DE1FF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Adakah setiap fakta sepadan dengan sumber?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620B93A9-F8B2-41E8-9813-CF9B09D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31B7DAF9-0F57-4C7C-A9B8-AD0BFA8A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Adakah nada, tajuk, penerima dan tindakan tepat?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4C1298B1-5DD8-4BCD-963D-68DDDA8D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E5BAB264-55A4-4812-A515-D3208600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Adakah bahagian sensitif dan pihak pelulus ditandakan?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C274D30B-DEA4-4732-9B7E-591EF1B9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61FEEC4C-7CDF-4AB1-A5D4-DCE088AB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Hasil: draf dokumen rasmi + senarai semak kelulusan.</a:t>
            </a:r>
          </a:p>
        </p:txBody>
      </p:sp>
    </p:spTree>
    <p:extLst>
      <p:ext uri="{BB962C8B-B14F-4D97-AF65-F5344CB8AC3E}">
        <p14:creationId xmlns:p14="http://schemas.microsoft.com/office/powerpoint/2010/main" val="18737391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ay">
            <a:extLst xmlns:a="http://schemas.openxmlformats.org/drawingml/2006/main">
              <a:ext uri="{FF2B5EF4-FFF2-40B4-BE49-F238E27FC236}">
                <a16:creationId xmlns:a16="http://schemas.microsoft.com/office/drawing/2014/main" id="{621AC7E3-F516-4CC1-9EEF-74B4C64F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</a:defRPr>
            </a:pPr>
            <a:r>
              <a:rPr sz="1200" b="1">
                <a:solidFill>
                  <a:srgbClr val="F5B942"/>
                </a:solidFill>
              </a:rPr>
              <a:t>HARI PERTAMA</a:t>
            </a:r>
          </a:p>
        </p:txBody>
      </p:sp>
      <p:sp>
        <p:nvSpPr>
          <p:cNvPr id="2" name="module-number">
            <a:extLst xmlns:a="http://schemas.openxmlformats.org/drawingml/2006/main">
              <a:ext uri="{FF2B5EF4-FFF2-40B4-BE49-F238E27FC236}">
                <a16:creationId xmlns:a16="http://schemas.microsoft.com/office/drawing/2014/main" id="{CE4BC378-2DA9-4A91-BE60-2C67EC43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71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5B942"/>
                </a:solidFill>
              </a:defRPr>
            </a:pPr>
            <a:r>
              <a:rPr sz="6450" b="1">
                <a:solidFill>
                  <a:srgbClr val="F5B942"/>
                </a:solidFill>
              </a:rPr>
              <a:t>03</a:t>
            </a:r>
          </a:p>
        </p:txBody>
      </p:sp>
      <p:sp>
        <p:nvSpPr>
          <p:cNvPr id="3" name="module-title">
            <a:extLst xmlns:a="http://schemas.openxmlformats.org/drawingml/2006/main">
              <a:ext uri="{FF2B5EF4-FFF2-40B4-BE49-F238E27FC236}">
                <a16:creationId xmlns:a16="http://schemas.microsoft.com/office/drawing/2014/main" id="{6E1666A1-6A9B-4296-8C4D-BE3227AF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62050"/>
            <a:ext cx="8286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Analisis data dan pengurusan rekod teknikal</a:t>
            </a:r>
          </a:p>
        </p:txBody>
      </p:sp>
      <p:sp>
        <p:nvSpPr>
          <p:cNvPr id="4" name="module-subtitle">
            <a:extLst xmlns:a="http://schemas.openxmlformats.org/drawingml/2006/main">
              <a:ext uri="{FF2B5EF4-FFF2-40B4-BE49-F238E27FC236}">
                <a16:creationId xmlns:a16="http://schemas.microsoft.com/office/drawing/2014/main" id="{17215E80-51AD-43E7-B781-11EA6F5B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4795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8E8"/>
                </a:solidFill>
              </a:defRPr>
            </a:pPr>
            <a:r>
              <a:rPr sz="1800" b="0">
                <a:solidFill>
                  <a:srgbClr val="DDE8E8"/>
                </a:solidFill>
              </a:rPr>
              <a:t>Data yang tersusun menghasilkan analisis yang boleh dipercayai dan rekod yang boleh dijejak.</a:t>
            </a:r>
          </a:p>
        </p:txBody>
      </p:sp>
      <p:sp>
        <p:nvSpPr>
          <p:cNvPr id="5" name="time-band">
            <a:extLst xmlns:a="http://schemas.openxmlformats.org/drawingml/2006/main">
              <a:ext uri="{FF2B5EF4-FFF2-40B4-BE49-F238E27FC236}">
                <a16:creationId xmlns:a16="http://schemas.microsoft.com/office/drawing/2014/main" id="{DD245702-4401-40FD-99B0-BE0995A3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D8611E3E-2146-4880-BB7C-2432EC5E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81625"/>
            <a:ext cx="1036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28 Julai · 2.30–4.30 petang</a:t>
            </a:r>
          </a:p>
        </p:txBody>
      </p:sp>
    </p:spTree>
    <p:extLst>
      <p:ext uri="{BB962C8B-B14F-4D97-AF65-F5344CB8AC3E}">
        <p14:creationId xmlns:p14="http://schemas.microsoft.com/office/powerpoint/2010/main" val="12859160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3B1C7FFE-5E28-428C-8759-A203C5A8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3A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4DB10C90-B1A1-4781-96F5-2F598CBB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1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D29F7CAD-F2DC-42D1-A421-E046C210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40AE21D-27B5-4E23-989D-3D885934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Soalan analisis menentukan kerja data</a:t>
            </a:r>
          </a:p>
        </p:txBody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D3890FD6-8F9F-4B6F-98F1-F93599E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num-0">
            <a:extLst xmlns:a="http://schemas.openxmlformats.org/drawingml/2006/main">
              <a:ext uri="{FF2B5EF4-FFF2-40B4-BE49-F238E27FC236}">
                <a16:creationId xmlns:a16="http://schemas.microsoft.com/office/drawing/2014/main" id="{13AF5D8A-41A6-44E3-A762-843B19C6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0C293058-6F14-42FC-A0DB-A6EB60B7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Tanya</a:t>
            </a:r>
          </a:p>
        </p:txBody>
      </p:sp>
      <p:sp>
        <p:nvSpPr>
          <p:cNvPr id="8" name="step-body-0">
            <a:extLst xmlns:a="http://schemas.openxmlformats.org/drawingml/2006/main">
              <a:ext uri="{FF2B5EF4-FFF2-40B4-BE49-F238E27FC236}">
                <a16:creationId xmlns:a16="http://schemas.microsoft.com/office/drawing/2014/main" id="{B082E012-3EC7-402B-B236-224241D2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Keputusan apa yang perlu disokong?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9F454FCB-7C2C-4167-8ADD-EF02E04D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1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-1">
            <a:extLst xmlns:a="http://schemas.openxmlformats.org/drawingml/2006/main">
              <a:ext uri="{FF2B5EF4-FFF2-40B4-BE49-F238E27FC236}">
                <a16:creationId xmlns:a16="http://schemas.microsoft.com/office/drawing/2014/main" id="{395F15CD-ABF3-4DD3-868C-294EC5C8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A20D2568-1022-4F24-9E4E-D698B559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Profil</a:t>
            </a:r>
          </a:p>
        </p:txBody>
      </p:sp>
      <p:sp>
        <p:nvSpPr>
          <p:cNvPr id="12" name="step-body-1">
            <a:extLst xmlns:a="http://schemas.openxmlformats.org/drawingml/2006/main">
              <a:ext uri="{FF2B5EF4-FFF2-40B4-BE49-F238E27FC236}">
                <a16:creationId xmlns:a16="http://schemas.microsoft.com/office/drawing/2014/main" id="{4F83D86B-8D3E-4D00-A0D2-7314CC51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Jenis, unit, tarikh, nilai hilang</a:t>
            </a:r>
          </a:p>
        </p:txBody>
      </p:sp>
      <p:sp>
        <p:nvSpPr>
          <p:cNvPr id="13" name="step-2">
            <a:extLst xmlns:a="http://schemas.openxmlformats.org/drawingml/2006/main">
              <a:ext uri="{FF2B5EF4-FFF2-40B4-BE49-F238E27FC236}">
                <a16:creationId xmlns:a16="http://schemas.microsoft.com/office/drawing/2014/main" id="{C13B3569-5F93-425E-8B12-4539D8C7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-2">
            <a:extLst xmlns:a="http://schemas.openxmlformats.org/drawingml/2006/main">
              <a:ext uri="{FF2B5EF4-FFF2-40B4-BE49-F238E27FC236}">
                <a16:creationId xmlns:a16="http://schemas.microsoft.com/office/drawing/2014/main" id="{6318E701-EA4F-4FF3-B360-2B4138F0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5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CDB78923-95C9-4EF0-9A14-0075CF6B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Bersih</a:t>
            </a:r>
          </a:p>
        </p:txBody>
      </p:sp>
      <p:sp>
        <p:nvSpPr>
          <p:cNvPr id="16" name="step-body-2">
            <a:extLst xmlns:a="http://schemas.openxmlformats.org/drawingml/2006/main">
              <a:ext uri="{FF2B5EF4-FFF2-40B4-BE49-F238E27FC236}">
                <a16:creationId xmlns:a16="http://schemas.microsoft.com/office/drawing/2014/main" id="{3A0FD697-4ACF-4FDD-A7B4-DF847EBC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Piawai, pendua, pembetulan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64177CFD-A49E-4D7E-AF64-89570764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ep-num-3">
            <a:extLst xmlns:a="http://schemas.openxmlformats.org/drawingml/2006/main">
              <a:ext uri="{FF2B5EF4-FFF2-40B4-BE49-F238E27FC236}">
                <a16:creationId xmlns:a16="http://schemas.microsoft.com/office/drawing/2014/main" id="{A48F2C27-712E-4BD3-BCDC-7950B9A7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86B9AFAF-0472-4D52-9406-25301F55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Analisis</a:t>
            </a:r>
          </a:p>
        </p:txBody>
      </p:sp>
      <p:sp>
        <p:nvSpPr>
          <p:cNvPr id="20" name="step-body-3">
            <a:extLst xmlns:a="http://schemas.openxmlformats.org/drawingml/2006/main">
              <a:ext uri="{FF2B5EF4-FFF2-40B4-BE49-F238E27FC236}">
                <a16:creationId xmlns:a16="http://schemas.microsoft.com/office/drawing/2014/main" id="{9EBA2E99-ECBE-4EA3-B01B-E959198E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8E8"/>
                </a:solidFill>
              </a:defRPr>
            </a:pPr>
            <a:r>
              <a:rPr sz="1200" b="0">
                <a:solidFill>
                  <a:srgbClr val="DDE8E8"/>
                </a:solidFill>
              </a:rPr>
              <a:t>Formula, ringkasan dan visual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049C6DC6-67AA-4E66-9C81-FA072DB4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AI boleh mencadangkan formula; peserta mesti mengesahkan hasilnya.</a:t>
            </a:r>
          </a:p>
        </p:txBody>
      </p:sp>
    </p:spTree>
    <p:extLst>
      <p:ext uri="{BB962C8B-B14F-4D97-AF65-F5344CB8AC3E}">
        <p14:creationId xmlns:p14="http://schemas.microsoft.com/office/powerpoint/2010/main" val="15738321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D1F95130-6675-4970-B8F2-3B1061F9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3A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F1F20923-9EA4-4A6A-9ED6-E3C75C3F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1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630A69DF-5B25-4BF6-98C9-75F5339C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5F6F0D-0AB2-4808-8919-C18D9CDC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Daftar rekod memberi konteks kepada setiap fail teknikal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76D451C8-3E8E-4061-8D61-5201D019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85899087-C3A6-4828-9476-D6A76D46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ID unik, tajuk dan kategori rekod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7FDD4355-0ED5-456C-8841-59CDC580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63E33E99-A42C-469B-B266-DFCE4A7F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Pemilik, status, versi dan lokasi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BF4B5CCE-EA79-47AA-9494-202649DE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C9AD095C-9036-4CC7-9655-10D94BC3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Tarikh kemas kini, semakan seterusnya dan akses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64416C0E-4853-47A4-AD3F-F1D85C70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DF462B96-7C3D-41CC-8B8E-B084D2D3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Rekod tanpa pemilik dan versi sukar dipercayai.</a:t>
            </a:r>
          </a:p>
        </p:txBody>
      </p:sp>
    </p:spTree>
    <p:extLst>
      <p:ext uri="{BB962C8B-B14F-4D97-AF65-F5344CB8AC3E}">
        <p14:creationId xmlns:p14="http://schemas.microsoft.com/office/powerpoint/2010/main" val="206800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4C720DFB-30BF-49FC-8515-90B7F451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REFLEKSI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82ACEAA9-4599-416F-8C12-667B4862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1 · 4.20 petang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DA69620A-B1E8-4FDA-9170-0BCF3358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2B2FEE2-1AAB-40FC-8F22-DDB080A0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Checkpoint Hari Pertama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FB89BB82-81C8-4552-ABD8-DF704F5E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E759713A-3D65-4A3B-A3F1-15735929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Satu dapatan yang disokong bukti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4A3A18E6-226B-45E4-9E1E-2E94DD52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6932D68A-FA41-4253-9105-7FDA151C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Satu risiko atau had penggunaan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FFCA3751-87B3-4A5D-A834-0167E653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C0DFEF7F-E8FE-454E-88D8-4BAD58CB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Satu soalan untuk audit Hari Kedua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0DC4772D-2D7A-4E07-925E-7E165A99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3A617E7C-31B3-43E2-AC2E-BB8DB477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Simpan hasil kerja—tanpa data sebenar yang tidak diluluskan.</a:t>
            </a:r>
          </a:p>
        </p:txBody>
      </p:sp>
    </p:spTree>
    <p:extLst>
      <p:ext uri="{BB962C8B-B14F-4D97-AF65-F5344CB8AC3E}">
        <p14:creationId xmlns:p14="http://schemas.microsoft.com/office/powerpoint/2010/main" val="7929187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ay">
            <a:extLst xmlns:a="http://schemas.openxmlformats.org/drawingml/2006/main">
              <a:ext uri="{FF2B5EF4-FFF2-40B4-BE49-F238E27FC236}">
                <a16:creationId xmlns:a16="http://schemas.microsoft.com/office/drawing/2014/main" id="{78940A47-4B13-459E-983E-5CB33856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</a:defRPr>
            </a:pPr>
            <a:r>
              <a:rPr sz="1200" b="1">
                <a:solidFill>
                  <a:srgbClr val="F5B942"/>
                </a:solidFill>
              </a:rPr>
              <a:t>HARI KEDUA</a:t>
            </a:r>
          </a:p>
        </p:txBody>
      </p:sp>
      <p:sp>
        <p:nvSpPr>
          <p:cNvPr id="2" name="module-number">
            <a:extLst xmlns:a="http://schemas.openxmlformats.org/drawingml/2006/main">
              <a:ext uri="{FF2B5EF4-FFF2-40B4-BE49-F238E27FC236}">
                <a16:creationId xmlns:a16="http://schemas.microsoft.com/office/drawing/2014/main" id="{3CB70CAB-6C3F-4E0D-8083-C8D50778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71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5B942"/>
                </a:solidFill>
              </a:defRPr>
            </a:pPr>
            <a:r>
              <a:rPr sz="6450" b="1">
                <a:solidFill>
                  <a:srgbClr val="F5B942"/>
                </a:solidFill>
              </a:rPr>
              <a:t>03B</a:t>
            </a:r>
          </a:p>
        </p:txBody>
      </p:sp>
      <p:sp>
        <p:nvSpPr>
          <p:cNvPr id="3" name="module-title">
            <a:extLst xmlns:a="http://schemas.openxmlformats.org/drawingml/2006/main">
              <a:ext uri="{FF2B5EF4-FFF2-40B4-BE49-F238E27FC236}">
                <a16:creationId xmlns:a16="http://schemas.microsoft.com/office/drawing/2014/main" id="{FE6C5B58-92A9-4CCA-9E24-A432730D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62050"/>
            <a:ext cx="8286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Kualiti data dan tadbir urus rekod</a:t>
            </a:r>
          </a:p>
        </p:txBody>
      </p:sp>
      <p:sp>
        <p:nvSpPr>
          <p:cNvPr id="4" name="module-subtitle">
            <a:extLst xmlns:a="http://schemas.openxmlformats.org/drawingml/2006/main">
              <a:ext uri="{FF2B5EF4-FFF2-40B4-BE49-F238E27FC236}">
                <a16:creationId xmlns:a16="http://schemas.microsoft.com/office/drawing/2014/main" id="{7AC7FDF7-5927-4888-B95A-106E7A85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4795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8E8"/>
                </a:solidFill>
              </a:defRPr>
            </a:pPr>
            <a:r>
              <a:rPr sz="1800" b="0">
                <a:solidFill>
                  <a:srgbClr val="DDE8E8"/>
                </a:solidFill>
              </a:rPr>
              <a:t>Sambungan Modul 3: audit dahulu, tafsir kemudian.</a:t>
            </a:r>
          </a:p>
        </p:txBody>
      </p:sp>
      <p:sp>
        <p:nvSpPr>
          <p:cNvPr id="5" name="time-band">
            <a:extLst xmlns:a="http://schemas.openxmlformats.org/drawingml/2006/main">
              <a:ext uri="{FF2B5EF4-FFF2-40B4-BE49-F238E27FC236}">
                <a16:creationId xmlns:a16="http://schemas.microsoft.com/office/drawing/2014/main" id="{50C5305F-E7CD-4B18-B6A8-35A552A0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22840505-E986-4723-B600-2328C200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81625"/>
            <a:ext cx="1036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29 Julai · 9.00–10.30 pagi</a:t>
            </a:r>
          </a:p>
        </p:txBody>
      </p:sp>
    </p:spTree>
    <p:extLst>
      <p:ext uri="{BB962C8B-B14F-4D97-AF65-F5344CB8AC3E}">
        <p14:creationId xmlns:p14="http://schemas.microsoft.com/office/powerpoint/2010/main" val="8489743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652E162E-A442-4BB9-B55E-72A0396D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3B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7FF71F4E-A40F-45AD-B420-FBEFCCFD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4E935D38-11C3-4B66-985D-A5727931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733BEA1-55D8-436F-A89B-5EA4ADBF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Lima ujian ringkas mendedahkan kelemahan data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FA87E744-6335-45B3-BD4F-04D0EACB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220709C9-DFA4-4BD5-AEF5-93607616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Lengkap dan unik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45E0F0FF-782E-413E-ABE7-29122D05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21C153D4-60FB-47FF-B51A-1A8DBFE4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Sah dan konsisten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EE5DC60E-3970-4E38-8BF7-5F5B9A1A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689254B9-24F0-47A7-929C-42F3D93C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Terkini untuk tujuan keputusan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12C5C820-A671-4484-A882-10E8DC37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D7A666B1-0F89-4A8B-9ECC-8A20E62F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Catat isu, pembetulan, pemilik dan masa—itulah jejak audit.</a:t>
            </a:r>
          </a:p>
        </p:txBody>
      </p:sp>
    </p:spTree>
    <p:extLst>
      <p:ext uri="{BB962C8B-B14F-4D97-AF65-F5344CB8AC3E}">
        <p14:creationId xmlns:p14="http://schemas.microsoft.com/office/powerpoint/2010/main" val="5945624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40447D98-A061-4238-8859-E70FADFB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3B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E3871F89-75C9-4539-BEAE-B441F068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817074B1-0720-456D-9791-7FA107DB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5033078-AA76-4C10-8363-F2D61542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Tafsiran perlu berhenti pada batas bukti</a:t>
            </a:r>
          </a:p>
        </p:txBody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20C47D1C-B4CE-4057-B1C3-17E2BB0F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num-0">
            <a:extLst xmlns:a="http://schemas.openxmlformats.org/drawingml/2006/main">
              <a:ext uri="{FF2B5EF4-FFF2-40B4-BE49-F238E27FC236}">
                <a16:creationId xmlns:a16="http://schemas.microsoft.com/office/drawing/2014/main" id="{E538E619-5852-4993-919F-784E6BC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2EFDC08A-A5E6-4F73-A3B0-21C8C5E0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Dapatan</a:t>
            </a:r>
          </a:p>
        </p:txBody>
      </p:sp>
      <p:sp>
        <p:nvSpPr>
          <p:cNvPr id="8" name="step-body-0">
            <a:extLst xmlns:a="http://schemas.openxmlformats.org/drawingml/2006/main">
              <a:ext uri="{FF2B5EF4-FFF2-40B4-BE49-F238E27FC236}">
                <a16:creationId xmlns:a16="http://schemas.microsoft.com/office/drawing/2014/main" id="{ECC269EE-B81C-4FF5-A6EE-BB370D8B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 yang benar-benar dilihat?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7A73FF2A-7EE5-4612-90ED-65FA4D0F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1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-1">
            <a:extLst xmlns:a="http://schemas.openxmlformats.org/drawingml/2006/main">
              <a:ext uri="{FF2B5EF4-FFF2-40B4-BE49-F238E27FC236}">
                <a16:creationId xmlns:a16="http://schemas.microsoft.com/office/drawing/2014/main" id="{02B57AEE-9F2A-40F7-9C2D-9DDFD0BC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36FFE51A-79CC-4EA1-83D6-91CF48D8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Bukti</a:t>
            </a:r>
          </a:p>
        </p:txBody>
      </p:sp>
      <p:sp>
        <p:nvSpPr>
          <p:cNvPr id="12" name="step-body-1">
            <a:extLst xmlns:a="http://schemas.openxmlformats.org/drawingml/2006/main">
              <a:ext uri="{FF2B5EF4-FFF2-40B4-BE49-F238E27FC236}">
                <a16:creationId xmlns:a16="http://schemas.microsoft.com/office/drawing/2014/main" id="{81505DA7-90A0-483B-9335-55F3497F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Formula, jadual atau rekod mana?</a:t>
            </a:r>
          </a:p>
        </p:txBody>
      </p:sp>
      <p:sp>
        <p:nvSpPr>
          <p:cNvPr id="13" name="step-2">
            <a:extLst xmlns:a="http://schemas.openxmlformats.org/drawingml/2006/main">
              <a:ext uri="{FF2B5EF4-FFF2-40B4-BE49-F238E27FC236}">
                <a16:creationId xmlns:a16="http://schemas.microsoft.com/office/drawing/2014/main" id="{F44E82BF-C5AE-4A8C-9B36-87786EAE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-2">
            <a:extLst xmlns:a="http://schemas.openxmlformats.org/drawingml/2006/main">
              <a:ext uri="{FF2B5EF4-FFF2-40B4-BE49-F238E27FC236}">
                <a16:creationId xmlns:a16="http://schemas.microsoft.com/office/drawing/2014/main" id="{6E2D4560-5BEC-494E-9A3B-1F00DFA5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5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2AC35256-7AC6-4767-A117-5C55965D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Batas</a:t>
            </a:r>
          </a:p>
        </p:txBody>
      </p:sp>
      <p:sp>
        <p:nvSpPr>
          <p:cNvPr id="16" name="step-body-2">
            <a:extLst xmlns:a="http://schemas.openxmlformats.org/drawingml/2006/main">
              <a:ext uri="{FF2B5EF4-FFF2-40B4-BE49-F238E27FC236}">
                <a16:creationId xmlns:a16="http://schemas.microsoft.com/office/drawing/2014/main" id="{4D305C6E-3D2B-459B-BE58-78227B88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 yang belum diketahui?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AF7BF7AF-F1AD-467E-B714-EC46F3EF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2C6302B-8CD1-4299-933D-7D2770BD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50C04CF6-6390-46B7-B60A-3A91DA05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Tindakan</a:t>
            </a:r>
          </a:p>
        </p:txBody>
      </p:sp>
      <p:sp>
        <p:nvSpPr>
          <p:cNvPr id="20" name="step-body-3">
            <a:extLst xmlns:a="http://schemas.openxmlformats.org/drawingml/2006/main">
              <a:ext uri="{FF2B5EF4-FFF2-40B4-BE49-F238E27FC236}">
                <a16:creationId xmlns:a16="http://schemas.microsoft.com/office/drawing/2014/main" id="{A43CBF55-DB76-4AD8-88AF-694DEAE3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8E8"/>
                </a:solidFill>
              </a:defRPr>
            </a:pPr>
            <a:r>
              <a:rPr sz="1200" b="0">
                <a:solidFill>
                  <a:srgbClr val="DDE8E8"/>
                </a:solidFill>
              </a:rPr>
              <a:t>Apakah semakan manusia seterusnya?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EAC84A3C-970D-43A9-9089-814EDD13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Hasil: laporan kualiti data + prosedur rekod ringkas.</a:t>
            </a:r>
          </a:p>
        </p:txBody>
      </p:sp>
    </p:spTree>
    <p:extLst>
      <p:ext uri="{BB962C8B-B14F-4D97-AF65-F5344CB8AC3E}">
        <p14:creationId xmlns:p14="http://schemas.microsoft.com/office/powerpoint/2010/main" val="9220162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ay">
            <a:extLst xmlns:a="http://schemas.openxmlformats.org/drawingml/2006/main">
              <a:ext uri="{FF2B5EF4-FFF2-40B4-BE49-F238E27FC236}">
                <a16:creationId xmlns:a16="http://schemas.microsoft.com/office/drawing/2014/main" id="{B60CCDAA-34C7-44B4-AE23-D7D2BE19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</a:defRPr>
            </a:pPr>
            <a:r>
              <a:rPr sz="1200" b="1">
                <a:solidFill>
                  <a:srgbClr val="F5B942"/>
                </a:solidFill>
              </a:rPr>
              <a:t>HARI KEDUA</a:t>
            </a:r>
          </a:p>
        </p:txBody>
      </p:sp>
      <p:sp>
        <p:nvSpPr>
          <p:cNvPr id="2" name="module-number">
            <a:extLst xmlns:a="http://schemas.openxmlformats.org/drawingml/2006/main">
              <a:ext uri="{FF2B5EF4-FFF2-40B4-BE49-F238E27FC236}">
                <a16:creationId xmlns:a16="http://schemas.microsoft.com/office/drawing/2014/main" id="{7EEFF188-6A6D-4440-B860-3FC75858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71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5B942"/>
                </a:solidFill>
              </a:defRPr>
            </a:pPr>
            <a:r>
              <a:rPr sz="64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3" name="module-title">
            <a:extLst xmlns:a="http://schemas.openxmlformats.org/drawingml/2006/main">
              <a:ext uri="{FF2B5EF4-FFF2-40B4-BE49-F238E27FC236}">
                <a16:creationId xmlns:a16="http://schemas.microsoft.com/office/drawing/2014/main" id="{754EEABE-FE2A-4E8B-A550-58BA9D64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62050"/>
            <a:ext cx="8286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Aliran kerja dan pendigitalan proses makmal</a:t>
            </a:r>
          </a:p>
        </p:txBody>
      </p:sp>
      <p:sp>
        <p:nvSpPr>
          <p:cNvPr id="4" name="module-subtitle">
            <a:extLst xmlns:a="http://schemas.openxmlformats.org/drawingml/2006/main">
              <a:ext uri="{FF2B5EF4-FFF2-40B4-BE49-F238E27FC236}">
                <a16:creationId xmlns:a16="http://schemas.microsoft.com/office/drawing/2014/main" id="{BD0BB0FB-5C7D-43BA-9D54-3299E094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4795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8E8"/>
                </a:solidFill>
              </a:defRPr>
            </a:pPr>
            <a:r>
              <a:rPr sz="1800" b="0">
                <a:solidFill>
                  <a:srgbClr val="DDE8E8"/>
                </a:solidFill>
              </a:rPr>
              <a:t>Automasi yang baik menjadikan pemilik, keputusan dan pengecualian lebih jelas.</a:t>
            </a:r>
          </a:p>
        </p:txBody>
      </p:sp>
      <p:sp>
        <p:nvSpPr>
          <p:cNvPr id="5" name="time-band">
            <a:extLst xmlns:a="http://schemas.openxmlformats.org/drawingml/2006/main">
              <a:ext uri="{FF2B5EF4-FFF2-40B4-BE49-F238E27FC236}">
                <a16:creationId xmlns:a16="http://schemas.microsoft.com/office/drawing/2014/main" id="{7BABD283-6B69-4A3E-A761-C3EE83C0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25648B02-6167-4488-837B-43ECDDAD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81625"/>
            <a:ext cx="1036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29 Julai · 11.00 pagi–1.00 petang</a:t>
            </a:r>
          </a:p>
        </p:txBody>
      </p:sp>
    </p:spTree>
    <p:extLst>
      <p:ext uri="{BB962C8B-B14F-4D97-AF65-F5344CB8AC3E}">
        <p14:creationId xmlns:p14="http://schemas.microsoft.com/office/powerpoint/2010/main" val="17890066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84213005-5FBA-4E15-8E89-A2763489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4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BB27E078-31E1-4236-9F05-2E19ED27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CD51F959-286A-47A7-B546-C7DE5A63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B2DC7EC-3550-44A5-B2D8-71D843BC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Petakan proses sebelum memilih alat</a:t>
            </a:r>
          </a:p>
        </p:txBody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3335E79D-11D0-4E74-A9AA-BC4F4779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num-0">
            <a:extLst xmlns:a="http://schemas.openxmlformats.org/drawingml/2006/main">
              <a:ext uri="{FF2B5EF4-FFF2-40B4-BE49-F238E27FC236}">
                <a16:creationId xmlns:a16="http://schemas.microsoft.com/office/drawing/2014/main" id="{C2D4946F-FA5C-48EA-BF03-567BE49A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CF4E619C-34D6-4539-8266-F52116C0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Pencetus</a:t>
            </a:r>
          </a:p>
        </p:txBody>
      </p:sp>
      <p:sp>
        <p:nvSpPr>
          <p:cNvPr id="8" name="step-body-0">
            <a:extLst xmlns:a="http://schemas.openxmlformats.org/drawingml/2006/main">
              <a:ext uri="{FF2B5EF4-FFF2-40B4-BE49-F238E27FC236}">
                <a16:creationId xmlns:a16="http://schemas.microsoft.com/office/drawing/2014/main" id="{5DAD1603-4F48-41B8-A585-1E073935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 memulakan proses?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FADD1336-BDE5-4862-ABF4-3DE8423D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1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-1">
            <a:extLst xmlns:a="http://schemas.openxmlformats.org/drawingml/2006/main">
              <a:ext uri="{FF2B5EF4-FFF2-40B4-BE49-F238E27FC236}">
                <a16:creationId xmlns:a16="http://schemas.microsoft.com/office/drawing/2014/main" id="{D209D312-5ED7-49A3-946E-972EA3D2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40F2DD39-6339-4CF0-8742-C07E06BC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Langkah</a:t>
            </a:r>
          </a:p>
        </p:txBody>
      </p:sp>
      <p:sp>
        <p:nvSpPr>
          <p:cNvPr id="12" name="step-body-1">
            <a:extLst xmlns:a="http://schemas.openxmlformats.org/drawingml/2006/main">
              <a:ext uri="{FF2B5EF4-FFF2-40B4-BE49-F238E27FC236}">
                <a16:creationId xmlns:a16="http://schemas.microsoft.com/office/drawing/2014/main" id="{08760A74-9622-4D49-8998-21E7DC2F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Siapa buat apa dan bila?</a:t>
            </a:r>
          </a:p>
        </p:txBody>
      </p:sp>
      <p:sp>
        <p:nvSpPr>
          <p:cNvPr id="13" name="step-2">
            <a:extLst xmlns:a="http://schemas.openxmlformats.org/drawingml/2006/main">
              <a:ext uri="{FF2B5EF4-FFF2-40B4-BE49-F238E27FC236}">
                <a16:creationId xmlns:a16="http://schemas.microsoft.com/office/drawing/2014/main" id="{194AA9A8-8C35-40D8-9118-B243C331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-2">
            <a:extLst xmlns:a="http://schemas.openxmlformats.org/drawingml/2006/main">
              <a:ext uri="{FF2B5EF4-FFF2-40B4-BE49-F238E27FC236}">
                <a16:creationId xmlns:a16="http://schemas.microsoft.com/office/drawing/2014/main" id="{A09FCF54-E1BF-4DDE-B215-6724150D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5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21D4C9DD-7FD6-4CDD-B6AC-AFFAE9C3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Keputusan</a:t>
            </a:r>
          </a:p>
        </p:txBody>
      </p:sp>
      <p:sp>
        <p:nvSpPr>
          <p:cNvPr id="16" name="step-body-2">
            <a:extLst xmlns:a="http://schemas.openxmlformats.org/drawingml/2006/main">
              <a:ext uri="{FF2B5EF4-FFF2-40B4-BE49-F238E27FC236}">
                <a16:creationId xmlns:a16="http://schemas.microsoft.com/office/drawing/2014/main" id="{09B3638A-CA1B-4580-ADB2-97136D62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Apakah syarat dan kelulusan?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D87E384F-CE56-4633-ACC2-39FCCEBD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ep-num-3">
            <a:extLst xmlns:a="http://schemas.openxmlformats.org/drawingml/2006/main">
              <a:ext uri="{FF2B5EF4-FFF2-40B4-BE49-F238E27FC236}">
                <a16:creationId xmlns:a16="http://schemas.microsoft.com/office/drawing/2014/main" id="{D2BFF3C2-39D5-4DD4-BB08-939569D9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E20B1354-5CB2-4564-A902-9790C966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Bukti</a:t>
            </a:r>
          </a:p>
        </p:txBody>
      </p:sp>
      <p:sp>
        <p:nvSpPr>
          <p:cNvPr id="20" name="step-body-3">
            <a:extLst xmlns:a="http://schemas.openxmlformats.org/drawingml/2006/main">
              <a:ext uri="{FF2B5EF4-FFF2-40B4-BE49-F238E27FC236}">
                <a16:creationId xmlns:a16="http://schemas.microsoft.com/office/drawing/2014/main" id="{F644A9EE-50F8-424C-A504-3FF6EA45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8E8"/>
                </a:solidFill>
              </a:defRPr>
            </a:pPr>
            <a:r>
              <a:rPr sz="1200" b="0">
                <a:solidFill>
                  <a:srgbClr val="DDE8E8"/>
                </a:solidFill>
              </a:rPr>
              <a:t>Apa disimpan untuk audit?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A92DEF7D-6279-4A7C-8E38-4CCBFC31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Contoh: permohonan peralatan, tempahan ruang atau pelaporan kerosakan.</a:t>
            </a:r>
          </a:p>
        </p:txBody>
      </p:sp>
    </p:spTree>
    <p:extLst>
      <p:ext uri="{BB962C8B-B14F-4D97-AF65-F5344CB8AC3E}">
        <p14:creationId xmlns:p14="http://schemas.microsoft.com/office/powerpoint/2010/main" val="14987278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C30992CC-505B-46B3-89D0-0E36CB49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4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2B1FC1A7-6D24-43C9-A951-A5E48487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4885805B-9BA1-4C14-9F7F-60B77C80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63209F8-4602-4B12-A680-12F5215E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Prototaip tanpa kod memerlukan empat lapisan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A70110D6-A56E-4D37-8359-F2762025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8563F6D4-2AAC-4B2E-988B-E8A1BD87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Forms mengumpul input dengan validasi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FEB72933-4489-4204-B0FB-9D033B8A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894CA7E2-26FB-40CF-95C2-5FF91712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Sheets/Excel menyimpan status dan pemilik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62EAFBF8-B46A-4DA4-9D00-8AD5A270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17D37F9C-8CCA-4A0A-9397-F2EF3459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Power Automate atau Apps Script menunjukkan pemberitahuan dan kelulusan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52E2F8E9-D2C7-462B-B357-1F4AC6C6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AB07DD03-C9A7-491D-968B-D0F14727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Mulakan kecil: satu proses, satu pemilik, satu hasil.</a:t>
            </a:r>
          </a:p>
        </p:txBody>
      </p:sp>
    </p:spTree>
    <p:extLst>
      <p:ext uri="{BB962C8B-B14F-4D97-AF65-F5344CB8AC3E}">
        <p14:creationId xmlns:p14="http://schemas.microsoft.com/office/powerpoint/2010/main" val="164009430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2F1553EF-8903-4A70-953D-FACAD930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4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ED934AC3-037A-4E4B-B083-BCCBC153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8F1DD0AF-5954-480D-9D30-82D5D68F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8857F31-6DD6-40CD-B9A6-F3AAF731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Uji proses pada laluan yang paling mudah gagal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B17883A1-F210-48A7-A20D-271B849A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6BD669B5-9288-4EA5-8795-190C9921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Laluan biasa: semua maklumat lengkap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61FE7D13-6034-488A-B848-BC64D18D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86052F95-78D8-4BC1-8D8B-4941EAE1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Laluan tidak lengkap: validasi dan pemulihan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8D3D9557-48DB-4EBB-AB9D-AF9CF4A9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D6F8CDA6-4437-42E4-B41C-A6EC0AA7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Laluan eskalasi: risiko, konflik atau kuasa tidak mencukupi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365C3734-BBA9-453C-80B9-79CBF8F7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2705F7C3-F34C-4548-95CF-5C645655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Automasi selamat tahu bila perlu berhenti.</a:t>
            </a:r>
          </a:p>
        </p:txBody>
      </p:sp>
    </p:spTree>
    <p:extLst>
      <p:ext uri="{BB962C8B-B14F-4D97-AF65-F5344CB8AC3E}">
        <p14:creationId xmlns:p14="http://schemas.microsoft.com/office/powerpoint/2010/main" val="66962643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ay">
            <a:extLst xmlns:a="http://schemas.openxmlformats.org/drawingml/2006/main">
              <a:ext uri="{FF2B5EF4-FFF2-40B4-BE49-F238E27FC236}">
                <a16:creationId xmlns:a16="http://schemas.microsoft.com/office/drawing/2014/main" id="{CD2F6E4F-1A94-4D83-A1F1-E0AF5909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</a:defRPr>
            </a:pPr>
            <a:r>
              <a:rPr sz="1200" b="1">
                <a:solidFill>
                  <a:srgbClr val="F5B942"/>
                </a:solidFill>
              </a:rPr>
              <a:t>HARI KEDUA</a:t>
            </a:r>
          </a:p>
        </p:txBody>
      </p:sp>
      <p:sp>
        <p:nvSpPr>
          <p:cNvPr id="2" name="module-number">
            <a:extLst xmlns:a="http://schemas.openxmlformats.org/drawingml/2006/main">
              <a:ext uri="{FF2B5EF4-FFF2-40B4-BE49-F238E27FC236}">
                <a16:creationId xmlns:a16="http://schemas.microsoft.com/office/drawing/2014/main" id="{632089AD-3523-4E89-8329-B5E56027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71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5B942"/>
                </a:solidFill>
              </a:defRPr>
            </a:pPr>
            <a:r>
              <a:rPr sz="6450" b="1">
                <a:solidFill>
                  <a:srgbClr val="F5B942"/>
                </a:solidFill>
              </a:rPr>
              <a:t>05</a:t>
            </a:r>
          </a:p>
        </p:txBody>
      </p:sp>
      <p:sp>
        <p:nvSpPr>
          <p:cNvPr id="3" name="module-title">
            <a:extLst xmlns:a="http://schemas.openxmlformats.org/drawingml/2006/main">
              <a:ext uri="{FF2B5EF4-FFF2-40B4-BE49-F238E27FC236}">
                <a16:creationId xmlns:a16="http://schemas.microsoft.com/office/drawing/2014/main" id="{143D23F7-5483-4CF6-8A57-00EC9210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62050"/>
            <a:ext cx="8286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Dokumen projek dan pembentangan</a:t>
            </a:r>
          </a:p>
        </p:txBody>
      </p:sp>
      <p:sp>
        <p:nvSpPr>
          <p:cNvPr id="4" name="module-subtitle">
            <a:extLst xmlns:a="http://schemas.openxmlformats.org/drawingml/2006/main">
              <a:ext uri="{FF2B5EF4-FFF2-40B4-BE49-F238E27FC236}">
                <a16:creationId xmlns:a16="http://schemas.microsoft.com/office/drawing/2014/main" id="{AD5EE87C-6F17-4A1E-B9E8-02A2D363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4795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8E8"/>
                </a:solidFill>
              </a:defRPr>
            </a:pPr>
            <a:r>
              <a:rPr sz="1800" b="0">
                <a:solidFill>
                  <a:srgbClr val="DDE8E8"/>
                </a:solidFill>
              </a:rPr>
              <a:t>Bukti menjadi berguna apabila ia membawa pembuat keputusan kepada tindakan.</a:t>
            </a:r>
          </a:p>
        </p:txBody>
      </p:sp>
      <p:sp>
        <p:nvSpPr>
          <p:cNvPr id="5" name="time-band">
            <a:extLst xmlns:a="http://schemas.openxmlformats.org/drawingml/2006/main">
              <a:ext uri="{FF2B5EF4-FFF2-40B4-BE49-F238E27FC236}">
                <a16:creationId xmlns:a16="http://schemas.microsoft.com/office/drawing/2014/main" id="{9A3892A6-C886-47CB-A2BC-BB4680BD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1D852B67-B42A-4E02-9BBB-E493E62B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81625"/>
            <a:ext cx="1036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29 Julai · 2.30–4.30 petang</a:t>
            </a:r>
          </a:p>
        </p:txBody>
      </p:sp>
    </p:spTree>
    <p:extLst>
      <p:ext uri="{BB962C8B-B14F-4D97-AF65-F5344CB8AC3E}">
        <p14:creationId xmlns:p14="http://schemas.microsoft.com/office/powerpoint/2010/main" val="30616106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CF7591C2-E44E-4F59-AEEB-DD560402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5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3D27D52D-BE89-4925-8BA3-FC801317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F481C229-9327-4908-9585-C6C0DACD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88C51BD-2E04-4129-8468-160919C0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Naratif projek menghubungkan masalah dengan tindakan</a:t>
            </a:r>
          </a:p>
        </p:txBody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F8061DF6-403A-4511-9878-C474F1AD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num-0">
            <a:extLst xmlns:a="http://schemas.openxmlformats.org/drawingml/2006/main">
              <a:ext uri="{FF2B5EF4-FFF2-40B4-BE49-F238E27FC236}">
                <a16:creationId xmlns:a16="http://schemas.microsoft.com/office/drawing/2014/main" id="{DE197CAF-40E1-4B0F-87B0-38BBA876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F8F8E837-82C4-45EC-8D65-73E76FA5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Konteks</a:t>
            </a:r>
          </a:p>
        </p:txBody>
      </p:sp>
      <p:sp>
        <p:nvSpPr>
          <p:cNvPr id="8" name="step-body-0">
            <a:extLst xmlns:a="http://schemas.openxmlformats.org/drawingml/2006/main">
              <a:ext uri="{FF2B5EF4-FFF2-40B4-BE49-F238E27FC236}">
                <a16:creationId xmlns:a16="http://schemas.microsoft.com/office/drawing/2014/main" id="{47212253-61F8-45D7-832C-011387C5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Mengapa isu ini penting?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928AA32A-5DEB-4150-BE11-82A8454B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1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-1">
            <a:extLst xmlns:a="http://schemas.openxmlformats.org/drawingml/2006/main">
              <a:ext uri="{FF2B5EF4-FFF2-40B4-BE49-F238E27FC236}">
                <a16:creationId xmlns:a16="http://schemas.microsoft.com/office/drawing/2014/main" id="{F151BE61-10F1-4015-84C2-80F0F61C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D8E9AC37-4A11-418E-AD0B-76A188A1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Masalah</a:t>
            </a:r>
          </a:p>
        </p:txBody>
      </p:sp>
      <p:sp>
        <p:nvSpPr>
          <p:cNvPr id="12" name="step-body-1">
            <a:extLst xmlns:a="http://schemas.openxmlformats.org/drawingml/2006/main">
              <a:ext uri="{FF2B5EF4-FFF2-40B4-BE49-F238E27FC236}">
                <a16:creationId xmlns:a16="http://schemas.microsoft.com/office/drawing/2014/main" id="{E114E481-6E0A-410F-9F0F-63071F64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Apakah jurang khusus?</a:t>
            </a:r>
          </a:p>
        </p:txBody>
      </p:sp>
      <p:sp>
        <p:nvSpPr>
          <p:cNvPr id="13" name="step-2">
            <a:extLst xmlns:a="http://schemas.openxmlformats.org/drawingml/2006/main">
              <a:ext uri="{FF2B5EF4-FFF2-40B4-BE49-F238E27FC236}">
                <a16:creationId xmlns:a16="http://schemas.microsoft.com/office/drawing/2014/main" id="{CA64B4B8-41C1-4EAD-B3CC-C0B88F34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-2">
            <a:extLst xmlns:a="http://schemas.openxmlformats.org/drawingml/2006/main">
              <a:ext uri="{FF2B5EF4-FFF2-40B4-BE49-F238E27FC236}">
                <a16:creationId xmlns:a16="http://schemas.microsoft.com/office/drawing/2014/main" id="{CEDBAD39-AF96-4BEC-9599-D0A4A22C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5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54B6A272-4BE7-4EF1-914E-7C6EB19B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04A"/>
                </a:solidFill>
              </a:defRPr>
            </a:pPr>
            <a:r>
              <a:rPr sz="1575" b="1">
                <a:solidFill>
                  <a:srgbClr val="12304A"/>
                </a:solidFill>
              </a:rPr>
              <a:t>Bukti</a:t>
            </a:r>
          </a:p>
        </p:txBody>
      </p:sp>
      <p:sp>
        <p:nvSpPr>
          <p:cNvPr id="16" name="step-body-2">
            <a:extLst xmlns:a="http://schemas.openxmlformats.org/drawingml/2006/main">
              <a:ext uri="{FF2B5EF4-FFF2-40B4-BE49-F238E27FC236}">
                <a16:creationId xmlns:a16="http://schemas.microsoft.com/office/drawing/2014/main" id="{F763EC41-981A-4445-A6BB-D489F411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</a:defRPr>
            </a:pPr>
            <a:r>
              <a:rPr sz="1200" b="0">
                <a:solidFill>
                  <a:srgbClr val="17212B"/>
                </a:solidFill>
              </a:rPr>
              <a:t>Apa yang ditemui?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CDFDC725-915B-42F4-B873-DED8BDA6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05050"/>
            <a:ext cx="2576513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ED4D61C-6A0F-4D0C-985B-0002F9C7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765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EB7A35A4-AAD1-46B1-BC7F-09024551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895600"/>
            <a:ext cx="215741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Cadangan</a:t>
            </a:r>
          </a:p>
        </p:txBody>
      </p:sp>
      <p:sp>
        <p:nvSpPr>
          <p:cNvPr id="20" name="step-body-3">
            <a:extLst xmlns:a="http://schemas.openxmlformats.org/drawingml/2006/main">
              <a:ext uri="{FF2B5EF4-FFF2-40B4-BE49-F238E27FC236}">
                <a16:creationId xmlns:a16="http://schemas.microsoft.com/office/drawing/2014/main" id="{764F05C2-C042-46C0-85D5-50A9BBD1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505200"/>
            <a:ext cx="2157413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8E8"/>
                </a:solidFill>
              </a:defRPr>
            </a:pPr>
            <a:r>
              <a:rPr sz="1200" b="0">
                <a:solidFill>
                  <a:srgbClr val="DDE8E8"/>
                </a:solidFill>
              </a:rPr>
              <a:t>Siapa buat apa seterusnya?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B0E45062-9703-405A-A1E8-129FA022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Gunakan hasil modul terdahulu sebagai bahan projek.</a:t>
            </a:r>
          </a:p>
        </p:txBody>
      </p:sp>
    </p:spTree>
    <p:extLst>
      <p:ext uri="{BB962C8B-B14F-4D97-AF65-F5344CB8AC3E}">
        <p14:creationId xmlns:p14="http://schemas.microsoft.com/office/powerpoint/2010/main" val="18569939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7CFDE1CA-4C87-4C78-AD94-877F904A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5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F6F06CDA-B15B-4009-B547-86058758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DE23C7F4-DA53-4137-8737-E8B3B356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ED0EEFF-0951-48CE-9B32-AC52CA6C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Satu slaid membawa satu mesej utama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0BCF6613-A6CE-497A-B126-4560D79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BE3EBF56-E95A-44BB-8A14-B3268940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Tajuk menyatakan dapatan atau keputusan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C95B6447-A202-4B54-925F-E29A673F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A4AC9B98-3A94-4295-87AE-6E346882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Bukti jelas, ringkas dan boleh disahkan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027A7AB1-1A60-499A-9542-6C6C5D51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D1C26BDE-95E6-4F60-BCF3-C13AC7AF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Tindakan, pemilik dan masa dinyatakan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77539273-265D-491C-81BA-CC7714C9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A74B752C-B205-4039-B9F9-1AE90034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Hasil: ringkasan satu halaman + pembentangan 3–5 slaid.</a:t>
            </a:r>
          </a:p>
        </p:txBody>
      </p:sp>
    </p:spTree>
    <p:extLst>
      <p:ext uri="{BB962C8B-B14F-4D97-AF65-F5344CB8AC3E}">
        <p14:creationId xmlns:p14="http://schemas.microsoft.com/office/powerpoint/2010/main" val="110489714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10D8B466-B105-4CFF-A96F-624A78E3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MODUL 5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CA8FCDD5-E856-49B4-8DD6-3E905DDA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Hari 2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E6CC0AD1-D271-4B8E-93E0-E8EFF0C0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8C780B4-B5CB-479F-942C-F0EDA68B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Pembentangan mini ialah ujian kejelasan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1147FCE7-3E34-4163-9588-02CE2A8D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55CD9091-3775-4F74-B6AE-6D995F98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Dua minit: masalah, bukti dan cadangan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FC7EF669-2B74-4E6E-9FB0-F23363C4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AFF7A542-E5B6-4492-BC17-A14979CC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Rakan menyemak ketepatan, kebolehbacaan dan tindakan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58FBD3AA-3DC9-4766-AAA0-DB755CD6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3AE5FC2A-E7BB-4757-8B76-8968EAC3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Penyampai membaiki satu perkara berimpak tinggi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5DA3183F-E45D-4D1C-9502-63C25348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5D71943B-F0CE-4F27-9452-E8166B37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Reka bentuk membantu mesej—ia tidak menggantikan bukti.</a:t>
            </a:r>
          </a:p>
        </p:txBody>
      </p:sp>
    </p:spTree>
    <p:extLst>
      <p:ext uri="{BB962C8B-B14F-4D97-AF65-F5344CB8AC3E}">
        <p14:creationId xmlns:p14="http://schemas.microsoft.com/office/powerpoint/2010/main" val="169826216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9A9B1CFE-C58F-4505-863E-DFAAC223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PENUTUP</a:t>
            </a:r>
          </a:p>
        </p:txBody>
      </p:sp>
      <p:sp>
        <p:nvSpPr>
          <p:cNvPr id="2" name="day-label">
            <a:extLst xmlns:a="http://schemas.openxmlformats.org/drawingml/2006/main">
              <a:ext uri="{FF2B5EF4-FFF2-40B4-BE49-F238E27FC236}">
                <a16:creationId xmlns:a16="http://schemas.microsoft.com/office/drawing/2014/main" id="{6110B2B6-E966-4E2D-9C5C-0A2B4CDD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86874"/>
                </a:solidFill>
              </a:defRPr>
            </a:pPr>
            <a:r>
              <a:rPr sz="1050" b="1">
                <a:solidFill>
                  <a:srgbClr val="586874"/>
                </a:solidFill>
              </a:rPr>
              <a:t>29 Julai · 4.20 petang</a:t>
            </a:r>
          </a:p>
        </p:txBody>
      </p:sp>
      <p:sp>
        <p:nvSpPr>
          <p:cNvPr id="3" name="top-rule">
            <a:extLst xmlns:a="http://schemas.openxmlformats.org/drawingml/2006/main">
              <a:ext uri="{FF2B5EF4-FFF2-40B4-BE49-F238E27FC236}">
                <a16:creationId xmlns:a16="http://schemas.microsoft.com/office/drawing/2014/main" id="{BA0A01D1-41BC-4148-B8DA-F4ECB6D5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D52149F-3778-42C6-9D06-8762D8D3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304A"/>
                </a:solidFill>
              </a:defRPr>
            </a:pPr>
            <a:r>
              <a:rPr sz="3000" b="1">
                <a:solidFill>
                  <a:srgbClr val="12304A"/>
                </a:solidFill>
              </a:rPr>
              <a:t>Mulakan satu eksperimen 30 hari</a:t>
            </a:r>
          </a:p>
        </p:txBody>
      </p:sp>
      <p:sp>
        <p:nvSpPr>
          <p:cNvPr id="5" name="marker-0">
            <a:extLst xmlns:a="http://schemas.openxmlformats.org/drawingml/2006/main">
              <a:ext uri="{FF2B5EF4-FFF2-40B4-BE49-F238E27FC236}">
                <a16:creationId xmlns:a16="http://schemas.microsoft.com/office/drawing/2014/main" id="{FDDB33C0-A0F1-4678-A0F8-F3A1C2B3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ody-0">
            <a:extLst xmlns:a="http://schemas.openxmlformats.org/drawingml/2006/main">
              <a:ext uri="{FF2B5EF4-FFF2-40B4-BE49-F238E27FC236}">
                <a16:creationId xmlns:a16="http://schemas.microsoft.com/office/drawing/2014/main" id="{500CD27F-83DC-4D4D-AA2E-F97C6F3B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Skop kecil dan pemilik jelas</a:t>
            </a:r>
          </a:p>
        </p:txBody>
      </p:sp>
      <p:sp>
        <p:nvSpPr>
          <p:cNvPr id="7" name="marker-1">
            <a:extLst xmlns:a="http://schemas.openxmlformats.org/drawingml/2006/main">
              <a:ext uri="{FF2B5EF4-FFF2-40B4-BE49-F238E27FC236}">
                <a16:creationId xmlns:a16="http://schemas.microsoft.com/office/drawing/2014/main" id="{5E0442DF-1FE9-4F37-9A74-534F9A9D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dy-1">
            <a:extLst xmlns:a="http://schemas.openxmlformats.org/drawingml/2006/main">
              <a:ext uri="{FF2B5EF4-FFF2-40B4-BE49-F238E27FC236}">
                <a16:creationId xmlns:a16="http://schemas.microsoft.com/office/drawing/2014/main" id="{3C38F120-75D6-4192-83C1-5CD9D5FA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Ukuran kejayaan dan kawalan data</a:t>
            </a:r>
          </a:p>
        </p:txBody>
      </p:sp>
      <p:sp>
        <p:nvSpPr>
          <p:cNvPr id="9" name="marker-2">
            <a:extLst xmlns:a="http://schemas.openxmlformats.org/drawingml/2006/main">
              <a:ext uri="{FF2B5EF4-FFF2-40B4-BE49-F238E27FC236}">
                <a16:creationId xmlns:a16="http://schemas.microsoft.com/office/drawing/2014/main" id="{2EE26262-4712-46F1-B7E7-9973124C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2">
            <a:extLst xmlns:a="http://schemas.openxmlformats.org/drawingml/2006/main">
              <a:ext uri="{FF2B5EF4-FFF2-40B4-BE49-F238E27FC236}">
                <a16:creationId xmlns:a16="http://schemas.microsoft.com/office/drawing/2014/main" id="{A167D968-DEDA-463C-892A-016B1114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</a:defRPr>
            </a:pPr>
            <a:r>
              <a:rPr sz="1725" b="0">
                <a:solidFill>
                  <a:srgbClr val="17212B"/>
                </a:solidFill>
              </a:rPr>
              <a:t>Syarat berhenti serta keputusan pada hari ke-30</a:t>
            </a:r>
          </a:p>
        </p:txBody>
      </p:sp>
      <p:sp>
        <p:nvSpPr>
          <p:cNvPr id="1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0CF90EC7-8396-4348-8BD2-94EAEB1F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2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4C5960D0-4608-4188-A05A-F5126852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29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Digitalisasi yang baik menjadikan kerja lebih jelas, boleh dijejak dan selamat.</a:t>
            </a:r>
          </a:p>
        </p:txBody>
      </p:sp>
    </p:spTree>
    <p:extLst>
      <p:ext uri="{BB962C8B-B14F-4D97-AF65-F5344CB8AC3E}">
        <p14:creationId xmlns:p14="http://schemas.microsoft.com/office/powerpoint/2010/main" val="981704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2026-07-11T00:09:28.9490000Z</dcterms:created>
  <dcterms:modified xsi:type="dcterms:W3CDTF">2026-07-11T00:09:28.9490000Z</dcterms:modified>
</coreProperties>
</file>